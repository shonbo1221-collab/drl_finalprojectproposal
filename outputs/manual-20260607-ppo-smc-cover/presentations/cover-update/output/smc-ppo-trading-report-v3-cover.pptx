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media/image2.svg" ContentType="image/sv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zh-TW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請按這裡移動投影片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請按這裡編輯備註格式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9615F5C6-9732-401A-92B9-1C1517CD4FCF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2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2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PlaceHolder 3"/>
          <p:cNvSpPr>
            <a:spLocks noGrp="1"/>
          </p:cNvSpPr>
          <p:nvPr>
            <p:ph type="sldNum" idx="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2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3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PlaceHolder 3"/>
          <p:cNvSpPr>
            <a:spLocks noGrp="1"/>
          </p:cNvSpPr>
          <p:nvPr>
            <p:ph type="sldNum" idx="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3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PlaceHolder 3"/>
          <p:cNvSpPr>
            <a:spLocks noGrp="1"/>
          </p:cNvSpPr>
          <p:nvPr>
            <p:ph type="sldNum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3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PlaceHolder 3"/>
          <p:cNvSpPr>
            <a:spLocks noGrp="1"/>
          </p:cNvSpPr>
          <p:nvPr>
            <p:ph type="sldNum" idx="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3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PlaceHolder 3"/>
          <p:cNvSpPr>
            <a:spLocks noGrp="1"/>
          </p:cNvSpPr>
          <p:nvPr>
            <p:ph type="sldNum" idx="1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4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PlaceHolder 3"/>
          <p:cNvSpPr>
            <a:spLocks noGrp="1"/>
          </p:cNvSpPr>
          <p:nvPr>
            <p:ph type="sldNum" idx="1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4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PlaceHolder 3"/>
          <p:cNvSpPr>
            <a:spLocks noGrp="1"/>
          </p:cNvSpPr>
          <p:nvPr>
            <p:ph type="sldNum" idx="1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4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PlaceHolder 3"/>
          <p:cNvSpPr>
            <a:spLocks noGrp="1"/>
          </p:cNvSpPr>
          <p:nvPr>
            <p:ph type="sldNum" idx="1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5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PlaceHolder 3"/>
          <p:cNvSpPr>
            <a:spLocks noGrp="1"/>
          </p:cNvSpPr>
          <p:nvPr>
            <p:ph type="sldNum" idx="1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buNone/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zh-TW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zh-TW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請按這裡編輯題名文字格式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TW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zh-TW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TW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zh-TW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TW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TW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TW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TW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請按這裡編輯大綱文字格式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TW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第二個大綱層次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TW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第三個大綱層次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TW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第四個大綱層次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TW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第五個大綱層次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TW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第六個大綱層次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TW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第七個大綱層次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7F8F4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"/>
          <p:cNvSpPr/>
          <p:nvPr/>
        </p:nvSpPr>
        <p:spPr>
          <a:xfrm>
            <a:off x="685800" y="514440"/>
            <a:ext cx="323640" cy="56880"/>
          </a:xfrm>
          <a:prstGeom prst="rect">
            <a:avLst/>
          </a:prstGeom>
          <a:solidFill>
            <a:srgbClr val="FF725F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12240" rIns="90000" bIns="122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"/>
          <p:cNvSpPr/>
          <p:nvPr/>
        </p:nvSpPr>
        <p:spPr>
          <a:xfrm>
            <a:off x="1123920" y="399960"/>
            <a:ext cx="4000320" cy="2664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1908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356B85"/>
                </a:solidFill>
                <a:effectLst/>
                <a:uFillTx/>
                <a:latin typeface="Microsoft JhengHei"/>
                <a:ea typeface="Microsoft JhengHei"/>
              </a:rPr>
              <a:t>FINAL PROJECT REPORT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"/>
          <p:cNvSpPr/>
          <p:nvPr/>
        </p:nvSpPr>
        <p:spPr>
          <a:xfrm>
            <a:off x="685800" y="1257480"/>
            <a:ext cx="9905760" cy="7236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300" b="1" u="none" strike="noStrike">
                <a:solidFill>
                  <a:srgbClr val="071018"/>
                </a:solidFill>
                <a:effectLst/>
                <a:uFillTx/>
                <a:latin typeface="Microsoft JhengHei"/>
                <a:ea typeface="Microsoft JhengHei"/>
              </a:rPr>
              <a:t>SMC + PPO </a:t>
            </a:r>
            <a:r>
              <a:rPr lang="zh-TW" sz="3300" b="1" u="none" strike="noStrike">
                <a:solidFill>
                  <a:srgbClr val="071018"/>
                </a:solidFill>
                <a:effectLst/>
                <a:uFillTx/>
                <a:latin typeface="Microsoft JhengHei"/>
                <a:ea typeface="Microsoft JhengHei"/>
              </a:rPr>
              <a:t>多股票動態資金配置系統</a:t>
            </a:r>
            <a:endParaRPr lang="en-US" sz="3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"/>
          <p:cNvSpPr/>
          <p:nvPr/>
        </p:nvSpPr>
        <p:spPr>
          <a:xfrm>
            <a:off x="723960" y="2095560"/>
            <a:ext cx="7238520" cy="3427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4B5C68"/>
                </a:solidFill>
                <a:effectLst/>
                <a:uFillTx/>
                <a:latin typeface="Microsoft JhengHei"/>
                <a:ea typeface="Microsoft JhengHei"/>
              </a:rPr>
              <a:t>Smart Money Concept × Proximal Policy Optimization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"/>
          <p:cNvSpPr/>
          <p:nvPr/>
        </p:nvSpPr>
        <p:spPr>
          <a:xfrm>
            <a:off x="685800" y="2905200"/>
            <a:ext cx="10820160" cy="37800"/>
          </a:xfrm>
          <a:prstGeom prst="rect">
            <a:avLst/>
          </a:prstGeom>
          <a:solidFill>
            <a:srgbClr val="123A56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"/>
          <p:cNvSpPr/>
          <p:nvPr/>
        </p:nvSpPr>
        <p:spPr>
          <a:xfrm>
            <a:off x="685800" y="3429000"/>
            <a:ext cx="3190680" cy="1431000"/>
          </a:xfrm>
          <a:prstGeom prst="rect">
            <a:avLst/>
          </a:prstGeom>
          <a:solidFill>
            <a:srgbClr val="EEF4F3"/>
          </a:solidFill>
          <a:ln w="9525">
            <a:solidFill>
              <a:srgbClr val="C4D1D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"/>
          <p:cNvSpPr/>
          <p:nvPr/>
        </p:nvSpPr>
        <p:spPr>
          <a:xfrm>
            <a:off x="4495680" y="3429000"/>
            <a:ext cx="3190680" cy="1257120"/>
          </a:xfrm>
          <a:prstGeom prst="rect">
            <a:avLst/>
          </a:prstGeom>
          <a:solidFill>
            <a:srgbClr val="FFFFFF"/>
          </a:solidFill>
          <a:ln w="9525">
            <a:solidFill>
              <a:srgbClr val="C4D1D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"/>
          <p:cNvSpPr/>
          <p:nvPr/>
        </p:nvSpPr>
        <p:spPr>
          <a:xfrm>
            <a:off x="8305920" y="3429000"/>
            <a:ext cx="3190680" cy="1257120"/>
          </a:xfrm>
          <a:prstGeom prst="rect">
            <a:avLst/>
          </a:prstGeom>
          <a:solidFill>
            <a:srgbClr val="EEF4F3"/>
          </a:solidFill>
          <a:ln w="9525">
            <a:solidFill>
              <a:srgbClr val="C4D1D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"/>
          <p:cNvSpPr/>
          <p:nvPr/>
        </p:nvSpPr>
        <p:spPr>
          <a:xfrm>
            <a:off x="952560" y="3714840"/>
            <a:ext cx="1238040" cy="2664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TW" sz="1650" b="1" u="none" strike="noStrike">
                <a:solidFill>
                  <a:srgbClr val="123A56"/>
                </a:solidFill>
                <a:effectLst/>
                <a:uFillTx/>
                <a:latin typeface="Microsoft JhengHei"/>
                <a:ea typeface="Microsoft JhengHei"/>
              </a:rPr>
              <a:t>組員</a:t>
            </a:r>
            <a:endParaRPr lang="en-US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"/>
          <p:cNvSpPr/>
          <p:nvPr/>
        </p:nvSpPr>
        <p:spPr>
          <a:xfrm>
            <a:off x="952560" y="4057560"/>
            <a:ext cx="2381040" cy="5522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TW" sz="1500" b="0" u="none" strike="noStrike">
                <a:solidFill>
                  <a:srgbClr val="071018"/>
                </a:solidFill>
                <a:effectLst/>
                <a:uFillTx/>
                <a:latin typeface="Microsoft JhengHei"/>
                <a:ea typeface="Microsoft JhengHei"/>
              </a:rPr>
              <a:t>游宗勝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TW" sz="1500" b="0" u="none" strike="noStrike">
                <a:solidFill>
                  <a:srgbClr val="071018"/>
                </a:solidFill>
                <a:effectLst/>
                <a:uFillTx/>
                <a:latin typeface="Microsoft JhengHei"/>
                <a:ea typeface="Microsoft JhengHei"/>
              </a:rPr>
              <a:t>李承育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TW" sz="1500" b="0" u="none" strike="noStrike">
                <a:solidFill>
                  <a:srgbClr val="071018"/>
                </a:solidFill>
                <a:effectLst/>
                <a:uFillTx/>
                <a:latin typeface="Microsoft JhengHei"/>
                <a:ea typeface="Microsoft JhengHei"/>
              </a:rPr>
              <a:t>史福隆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"/>
          <p:cNvSpPr/>
          <p:nvPr/>
        </p:nvSpPr>
        <p:spPr>
          <a:xfrm>
            <a:off x="4762440" y="3714840"/>
            <a:ext cx="1714320" cy="2664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TW" sz="1650" b="1" u="none" strike="noStrike">
                <a:solidFill>
                  <a:srgbClr val="123A56"/>
                </a:solidFill>
                <a:effectLst/>
                <a:uFillTx/>
                <a:latin typeface="Microsoft JhengHei"/>
                <a:ea typeface="Microsoft JhengHei"/>
              </a:rPr>
              <a:t>課堂授課教授</a:t>
            </a:r>
            <a:endParaRPr lang="en-US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"/>
          <p:cNvSpPr/>
          <p:nvPr/>
        </p:nvSpPr>
        <p:spPr>
          <a:xfrm>
            <a:off x="4762440" y="4114800"/>
            <a:ext cx="2190240" cy="3045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TW" sz="1800" b="1" u="none" strike="noStrike">
                <a:solidFill>
                  <a:srgbClr val="FF725F"/>
                </a:solidFill>
                <a:effectLst/>
                <a:uFillTx/>
                <a:latin typeface="Microsoft JhengHei"/>
                <a:ea typeface="Microsoft JhengHei"/>
              </a:rPr>
              <a:t>陳煥 老師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"/>
          <p:cNvSpPr/>
          <p:nvPr/>
        </p:nvSpPr>
        <p:spPr>
          <a:xfrm>
            <a:off x="8572680" y="3714840"/>
            <a:ext cx="1523520" cy="2664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TW" sz="1650" b="1" u="none" strike="noStrike">
                <a:solidFill>
                  <a:srgbClr val="123A56"/>
                </a:solidFill>
                <a:effectLst/>
                <a:uFillTx/>
                <a:latin typeface="Microsoft JhengHei"/>
                <a:ea typeface="Microsoft JhengHei"/>
              </a:rPr>
              <a:t>報告主題</a:t>
            </a:r>
            <a:endParaRPr lang="en-US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"/>
          <p:cNvSpPr/>
          <p:nvPr/>
        </p:nvSpPr>
        <p:spPr>
          <a:xfrm>
            <a:off x="8572680" y="4057560"/>
            <a:ext cx="2767320" cy="4568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TW" sz="1200" b="0" u="none" strike="noStrike">
                <a:solidFill>
                  <a:srgbClr val="4B5C68"/>
                </a:solidFill>
                <a:effectLst/>
                <a:uFillTx/>
                <a:latin typeface="Microsoft JhengHei"/>
                <a:ea typeface="Microsoft JhengHei"/>
              </a:rPr>
              <a:t>以 </a:t>
            </a:r>
            <a:r>
              <a:rPr lang="en-US" sz="1200" b="0" u="none" strike="noStrike">
                <a:solidFill>
                  <a:srgbClr val="4B5C68"/>
                </a:solidFill>
                <a:effectLst/>
                <a:uFillTx/>
                <a:latin typeface="Microsoft JhengHei"/>
                <a:ea typeface="Microsoft JhengHei"/>
              </a:rPr>
              <a:t>SMC </a:t>
            </a:r>
            <a:r>
              <a:rPr lang="zh-TW" sz="1200" b="0" u="none" strike="noStrike">
                <a:solidFill>
                  <a:srgbClr val="4B5C68"/>
                </a:solidFill>
                <a:effectLst/>
                <a:uFillTx/>
                <a:latin typeface="Microsoft JhengHei"/>
                <a:ea typeface="Microsoft JhengHei"/>
              </a:rPr>
              <a:t>特徵建立 </a:t>
            </a:r>
            <a:r>
              <a:rPr lang="en-US" sz="1200" b="0" u="none" strike="noStrike">
                <a:solidFill>
                  <a:srgbClr val="4B5C68"/>
                </a:solidFill>
                <a:effectLst/>
                <a:uFillTx/>
                <a:latin typeface="Microsoft JhengHei"/>
                <a:ea typeface="Microsoft JhengHei"/>
              </a:rPr>
              <a:t>PPO </a:t>
            </a:r>
            <a:r>
              <a:rPr lang="zh-TW" sz="1200" b="0" u="none" strike="noStrike">
                <a:solidFill>
                  <a:srgbClr val="4B5C68"/>
                </a:solidFill>
                <a:effectLst/>
                <a:uFillTx/>
                <a:latin typeface="Microsoft JhengHei"/>
                <a:ea typeface="Microsoft JhengHei"/>
              </a:rPr>
              <a:t>交易環境，驗證 </a:t>
            </a:r>
            <a:r>
              <a:rPr lang="en-US" sz="1200" b="0" u="none" strike="noStrike">
                <a:solidFill>
                  <a:srgbClr val="4B5C68"/>
                </a:solidFill>
                <a:effectLst/>
                <a:uFillTx/>
                <a:latin typeface="Microsoft JhengHei"/>
                <a:ea typeface="Microsoft JhengHei"/>
              </a:rPr>
              <a:t>Pair / Basket </a:t>
            </a:r>
            <a:r>
              <a:rPr lang="zh-TW" sz="1200" b="0" u="none" strike="noStrike">
                <a:solidFill>
                  <a:srgbClr val="4B5C68"/>
                </a:solidFill>
                <a:effectLst/>
                <a:uFillTx/>
                <a:latin typeface="Microsoft JhengHei"/>
                <a:ea typeface="Microsoft JhengHei"/>
              </a:rPr>
              <a:t>台股資金配置策略。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"/>
          <p:cNvSpPr/>
          <p:nvPr/>
        </p:nvSpPr>
        <p:spPr>
          <a:xfrm>
            <a:off x="685800" y="5676840"/>
            <a:ext cx="6476760" cy="2664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356B85"/>
                </a:solidFill>
                <a:effectLst/>
                <a:uFillTx/>
                <a:latin typeface="Microsoft JhengHei"/>
                <a:ea typeface="Microsoft JhengHei"/>
              </a:rPr>
              <a:t>Demo: Streamlit App  |  Video: YouTube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"/>
          <p:cNvSpPr/>
          <p:nvPr/>
        </p:nvSpPr>
        <p:spPr>
          <a:xfrm>
            <a:off x="685800" y="6438960"/>
            <a:ext cx="10820160" cy="9000"/>
          </a:xfrm>
          <a:prstGeom prst="rect">
            <a:avLst/>
          </a:prstGeom>
          <a:solidFill>
            <a:srgbClr val="C4D1D5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"/>
          <p:cNvSpPr/>
          <p:nvPr/>
        </p:nvSpPr>
        <p:spPr>
          <a:xfrm>
            <a:off x="685800" y="6534000"/>
            <a:ext cx="400032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>
                <a:solidFill>
                  <a:srgbClr val="4B5C68"/>
                </a:solidFill>
                <a:effectLst/>
                <a:uFillTx/>
                <a:latin typeface="Microsoft JhengHei"/>
                <a:ea typeface="Microsoft JhengHei"/>
              </a:rPr>
              <a:t>DRL Final Project Proposal</a:t>
            </a:r>
            <a:endParaRPr lang="en-US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"/>
          <p:cNvSpPr/>
          <p:nvPr/>
        </p:nvSpPr>
        <p:spPr>
          <a:xfrm>
            <a:off x="11049120" y="6515280"/>
            <a:ext cx="456840" cy="1900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123A56"/>
                </a:solidFill>
                <a:effectLst/>
                <a:uFillTx/>
                <a:latin typeface="Cascadia Mono"/>
                <a:ea typeface="Cascadia Mono"/>
              </a:rPr>
              <a:t>01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7F8F4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kicker-01-marker"/>
          <p:cNvSpPr/>
          <p:nvPr/>
        </p:nvSpPr>
        <p:spPr>
          <a:xfrm>
            <a:off x="685800" y="495360"/>
            <a:ext cx="323640" cy="56880"/>
          </a:xfrm>
          <a:prstGeom prst="rect">
            <a:avLst/>
          </a:prstGeom>
          <a:solidFill>
            <a:srgbClr val="FF725F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12240" rIns="90000" bIns="122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kicker-01-label"/>
          <p:cNvSpPr/>
          <p:nvPr/>
        </p:nvSpPr>
        <p:spPr>
          <a:xfrm>
            <a:off x="1123920" y="419040"/>
            <a:ext cx="4952520" cy="2282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1908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1" u="none" strike="noStrike">
                <a:solidFill>
                  <a:srgbClr val="356B85"/>
                </a:solidFill>
                <a:effectLst/>
                <a:uFillTx/>
                <a:latin typeface="Microsoft JhengHei"/>
                <a:ea typeface="Microsoft JhengHei"/>
              </a:rPr>
              <a:t>FINAL PROJECT REPORT</a:t>
            </a:r>
            <a:endParaRPr lang="en-US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"/>
          <p:cNvSpPr/>
          <p:nvPr/>
        </p:nvSpPr>
        <p:spPr>
          <a:xfrm>
            <a:off x="685800" y="1028880"/>
            <a:ext cx="10096200" cy="9140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071018"/>
                </a:solidFill>
                <a:effectLst/>
                <a:uFillTx/>
                <a:latin typeface="Microsoft JhengHei"/>
                <a:ea typeface="Microsoft JhengHei"/>
              </a:rPr>
              <a:t>SMC + PPO </a:t>
            </a:r>
            <a:r>
              <a:rPr lang="zh-TW" sz="2700" b="1" u="none" strike="noStrike">
                <a:solidFill>
                  <a:srgbClr val="071018"/>
                </a:solidFill>
                <a:effectLst/>
                <a:uFillTx/>
                <a:latin typeface="Microsoft JhengHei"/>
                <a:ea typeface="Microsoft JhengHei"/>
              </a:rPr>
              <a:t>多股票動態資金配置系統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"/>
          <p:cNvSpPr/>
          <p:nvPr/>
        </p:nvSpPr>
        <p:spPr>
          <a:xfrm>
            <a:off x="704880" y="2019240"/>
            <a:ext cx="8381520" cy="7808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TW" sz="1500" b="0" u="none" strike="noStrike">
                <a:solidFill>
                  <a:srgbClr val="4B5C68"/>
                </a:solidFill>
                <a:effectLst/>
                <a:uFillTx/>
                <a:latin typeface="Microsoft JhengHei"/>
                <a:ea typeface="Microsoft JhengHei"/>
              </a:rPr>
              <a:t>本專案把 </a:t>
            </a:r>
            <a:r>
              <a:rPr lang="en-US" sz="1500" b="0" u="none" strike="noStrike">
                <a:solidFill>
                  <a:srgbClr val="4B5C68"/>
                </a:solidFill>
                <a:effectLst/>
                <a:uFillTx/>
                <a:latin typeface="Microsoft JhengHei"/>
                <a:ea typeface="Microsoft JhengHei"/>
              </a:rPr>
              <a:t>Smart Money Concept </a:t>
            </a:r>
            <a:r>
              <a:rPr lang="zh-TW" sz="1500" b="0" u="none" strike="noStrike">
                <a:solidFill>
                  <a:srgbClr val="4B5C68"/>
                </a:solidFill>
                <a:effectLst/>
                <a:uFillTx/>
                <a:latin typeface="Microsoft JhengHei"/>
                <a:ea typeface="Microsoft JhengHei"/>
              </a:rPr>
              <a:t>的市場結構訊號轉成可計算特徵，再用 </a:t>
            </a:r>
            <a:r>
              <a:rPr lang="en-US" sz="1500" b="0" u="none" strike="noStrike">
                <a:solidFill>
                  <a:srgbClr val="4B5C68"/>
                </a:solidFill>
                <a:effectLst/>
                <a:uFillTx/>
                <a:latin typeface="Microsoft JhengHei"/>
                <a:ea typeface="Microsoft JhengHei"/>
              </a:rPr>
              <a:t>PPO </a:t>
            </a:r>
            <a:r>
              <a:rPr lang="zh-TW" sz="1500" b="0" u="none" strike="noStrike">
                <a:solidFill>
                  <a:srgbClr val="4B5C68"/>
                </a:solidFill>
                <a:effectLst/>
                <a:uFillTx/>
                <a:latin typeface="Microsoft JhengHei"/>
                <a:ea typeface="Microsoft JhengHei"/>
              </a:rPr>
              <a:t>學習在多檔台股之間分配資金。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"/>
          <p:cNvSpPr/>
          <p:nvPr/>
        </p:nvSpPr>
        <p:spPr>
          <a:xfrm>
            <a:off x="685800" y="3086280"/>
            <a:ext cx="10820160" cy="37800"/>
          </a:xfrm>
          <a:prstGeom prst="rect">
            <a:avLst/>
          </a:prstGeom>
          <a:solidFill>
            <a:srgbClr val="123A56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"/>
          <p:cNvSpPr/>
          <p:nvPr/>
        </p:nvSpPr>
        <p:spPr>
          <a:xfrm>
            <a:off x="685800" y="3619440"/>
            <a:ext cx="2190240" cy="914040"/>
          </a:xfrm>
          <a:prstGeom prst="rect">
            <a:avLst/>
          </a:prstGeom>
          <a:solidFill>
            <a:srgbClr val="FFFFFF"/>
          </a:solidFill>
          <a:ln w="9525">
            <a:solidFill>
              <a:srgbClr val="C4D1D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"/>
          <p:cNvSpPr/>
          <p:nvPr/>
        </p:nvSpPr>
        <p:spPr>
          <a:xfrm>
            <a:off x="685800" y="3619440"/>
            <a:ext cx="56880" cy="914040"/>
          </a:xfrm>
          <a:prstGeom prst="rect">
            <a:avLst/>
          </a:prstGeom>
          <a:solidFill>
            <a:srgbClr val="123A56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"/>
          <p:cNvSpPr/>
          <p:nvPr/>
        </p:nvSpPr>
        <p:spPr>
          <a:xfrm>
            <a:off x="876240" y="3762360"/>
            <a:ext cx="1923840" cy="3427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123A56"/>
                </a:solidFill>
                <a:effectLst/>
                <a:uFillTx/>
                <a:latin typeface="Cascadia Mono"/>
                <a:ea typeface="Cascadia Mono"/>
              </a:rPr>
              <a:t>SMC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"/>
          <p:cNvSpPr/>
          <p:nvPr/>
        </p:nvSpPr>
        <p:spPr>
          <a:xfrm>
            <a:off x="876240" y="4124160"/>
            <a:ext cx="1923840" cy="209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TW" sz="1050" b="1" u="none" strike="noStrike">
                <a:solidFill>
                  <a:srgbClr val="071018"/>
                </a:solidFill>
                <a:effectLst/>
                <a:uFillTx/>
                <a:latin typeface="Microsoft JhengHei"/>
                <a:ea typeface="Microsoft JhengHei"/>
              </a:rPr>
              <a:t>市場結構特徵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"/>
          <p:cNvSpPr/>
          <p:nvPr/>
        </p:nvSpPr>
        <p:spPr>
          <a:xfrm>
            <a:off x="876240" y="4334040"/>
            <a:ext cx="1923840" cy="1519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4B5C68"/>
                </a:solidFill>
                <a:effectLst/>
                <a:uFillTx/>
                <a:latin typeface="Microsoft JhengHei"/>
                <a:ea typeface="Microsoft JhengHei"/>
              </a:rPr>
              <a:t>PD / OB / FVG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"/>
          <p:cNvSpPr/>
          <p:nvPr/>
        </p:nvSpPr>
        <p:spPr>
          <a:xfrm>
            <a:off x="3067200" y="3619440"/>
            <a:ext cx="2190240" cy="914040"/>
          </a:xfrm>
          <a:prstGeom prst="rect">
            <a:avLst/>
          </a:prstGeom>
          <a:solidFill>
            <a:srgbClr val="FFFFFF"/>
          </a:solidFill>
          <a:ln w="9525">
            <a:solidFill>
              <a:srgbClr val="C4D1D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"/>
          <p:cNvSpPr/>
          <p:nvPr/>
        </p:nvSpPr>
        <p:spPr>
          <a:xfrm>
            <a:off x="3067200" y="3619440"/>
            <a:ext cx="56880" cy="914040"/>
          </a:xfrm>
          <a:prstGeom prst="rect">
            <a:avLst/>
          </a:prstGeom>
          <a:solidFill>
            <a:srgbClr val="356B85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"/>
          <p:cNvSpPr/>
          <p:nvPr/>
        </p:nvSpPr>
        <p:spPr>
          <a:xfrm>
            <a:off x="3257640" y="3762360"/>
            <a:ext cx="1923840" cy="3427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356B85"/>
                </a:solidFill>
                <a:effectLst/>
                <a:uFillTx/>
                <a:latin typeface="Cascadia Mono"/>
                <a:ea typeface="Cascadia Mono"/>
              </a:rPr>
              <a:t>PPO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"/>
          <p:cNvSpPr/>
          <p:nvPr/>
        </p:nvSpPr>
        <p:spPr>
          <a:xfrm>
            <a:off x="3257640" y="4124160"/>
            <a:ext cx="1923840" cy="209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TW" sz="1050" b="1" u="none" strike="noStrike">
                <a:solidFill>
                  <a:srgbClr val="071018"/>
                </a:solidFill>
                <a:effectLst/>
                <a:uFillTx/>
                <a:latin typeface="Microsoft JhengHei"/>
                <a:ea typeface="Microsoft JhengHei"/>
              </a:rPr>
              <a:t>強化學習決策器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"/>
          <p:cNvSpPr/>
          <p:nvPr/>
        </p:nvSpPr>
        <p:spPr>
          <a:xfrm>
            <a:off x="3257640" y="4334040"/>
            <a:ext cx="1923840" cy="1519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TW" sz="750" b="0" u="none" strike="noStrike">
                <a:solidFill>
                  <a:srgbClr val="4B5C68"/>
                </a:solidFill>
                <a:effectLst/>
                <a:uFillTx/>
                <a:latin typeface="Microsoft JhengHei"/>
                <a:ea typeface="Microsoft JhengHei"/>
              </a:rPr>
              <a:t>連續 </a:t>
            </a:r>
            <a:r>
              <a:rPr lang="en-US" sz="750" b="0" u="none" strike="noStrike">
                <a:solidFill>
                  <a:srgbClr val="4B5C68"/>
                </a:solidFill>
                <a:effectLst/>
                <a:uFillTx/>
                <a:latin typeface="Microsoft JhengHei"/>
                <a:ea typeface="Microsoft JhengHei"/>
              </a:rPr>
              <a:t>action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"/>
          <p:cNvSpPr/>
          <p:nvPr/>
        </p:nvSpPr>
        <p:spPr>
          <a:xfrm>
            <a:off x="5448240" y="3619440"/>
            <a:ext cx="2190240" cy="914040"/>
          </a:xfrm>
          <a:prstGeom prst="rect">
            <a:avLst/>
          </a:prstGeom>
          <a:solidFill>
            <a:srgbClr val="FFFFFF"/>
          </a:solidFill>
          <a:ln w="9525">
            <a:solidFill>
              <a:srgbClr val="C4D1D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"/>
          <p:cNvSpPr/>
          <p:nvPr/>
        </p:nvSpPr>
        <p:spPr>
          <a:xfrm>
            <a:off x="5448240" y="3619440"/>
            <a:ext cx="56880" cy="914040"/>
          </a:xfrm>
          <a:prstGeom prst="rect">
            <a:avLst/>
          </a:prstGeom>
          <a:solidFill>
            <a:srgbClr val="FF725F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"/>
          <p:cNvSpPr/>
          <p:nvPr/>
        </p:nvSpPr>
        <p:spPr>
          <a:xfrm>
            <a:off x="5638680" y="3762360"/>
            <a:ext cx="1923840" cy="3427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FF725F"/>
                </a:solidFill>
                <a:effectLst/>
                <a:uFillTx/>
                <a:latin typeface="Cascadia Mono"/>
                <a:ea typeface="Cascadia Mono"/>
              </a:rPr>
              <a:t>Pair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"/>
          <p:cNvSpPr/>
          <p:nvPr/>
        </p:nvSpPr>
        <p:spPr>
          <a:xfrm>
            <a:off x="5638680" y="4124160"/>
            <a:ext cx="1923840" cy="209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071018"/>
                </a:solidFill>
                <a:effectLst/>
                <a:uFillTx/>
                <a:latin typeface="Microsoft JhengHei"/>
                <a:ea typeface="Microsoft JhengHei"/>
              </a:rPr>
              <a:t>0050 / 2330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"/>
          <p:cNvSpPr/>
          <p:nvPr/>
        </p:nvSpPr>
        <p:spPr>
          <a:xfrm>
            <a:off x="5638680" y="4334040"/>
            <a:ext cx="1923840" cy="1519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TW" sz="750" b="0" u="none" strike="noStrike">
                <a:solidFill>
                  <a:srgbClr val="4B5C68"/>
                </a:solidFill>
                <a:effectLst/>
                <a:uFillTx/>
                <a:latin typeface="Microsoft JhengHei"/>
                <a:ea typeface="Microsoft JhengHei"/>
              </a:rPr>
              <a:t>兩檔配置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"/>
          <p:cNvSpPr/>
          <p:nvPr/>
        </p:nvSpPr>
        <p:spPr>
          <a:xfrm>
            <a:off x="7829640" y="3619440"/>
            <a:ext cx="2571480" cy="914040"/>
          </a:xfrm>
          <a:prstGeom prst="rect">
            <a:avLst/>
          </a:prstGeom>
          <a:solidFill>
            <a:srgbClr val="FFFFFF"/>
          </a:solidFill>
          <a:ln w="9525">
            <a:solidFill>
              <a:srgbClr val="C4D1D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"/>
          <p:cNvSpPr/>
          <p:nvPr/>
        </p:nvSpPr>
        <p:spPr>
          <a:xfrm>
            <a:off x="7829640" y="3619440"/>
            <a:ext cx="56880" cy="914040"/>
          </a:xfrm>
          <a:prstGeom prst="rect">
            <a:avLst/>
          </a:prstGeom>
          <a:solidFill>
            <a:srgbClr val="2E8B57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"/>
          <p:cNvSpPr/>
          <p:nvPr/>
        </p:nvSpPr>
        <p:spPr>
          <a:xfrm>
            <a:off x="8020080" y="3762360"/>
            <a:ext cx="2304720" cy="3427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2E8B57"/>
                </a:solidFill>
                <a:effectLst/>
                <a:uFillTx/>
                <a:latin typeface="Cascadia Mono"/>
                <a:ea typeface="Cascadia Mono"/>
              </a:rPr>
              <a:t>Basket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"/>
          <p:cNvSpPr/>
          <p:nvPr/>
        </p:nvSpPr>
        <p:spPr>
          <a:xfrm>
            <a:off x="8020080" y="4124160"/>
            <a:ext cx="2304720" cy="209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071018"/>
                </a:solidFill>
                <a:effectLst/>
                <a:uFillTx/>
                <a:latin typeface="Microsoft JhengHei"/>
                <a:ea typeface="Microsoft JhengHei"/>
              </a:rPr>
              <a:t>0050 / 2330 / 2412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"/>
          <p:cNvSpPr/>
          <p:nvPr/>
        </p:nvSpPr>
        <p:spPr>
          <a:xfrm>
            <a:off x="8020080" y="4334040"/>
            <a:ext cx="2304720" cy="1519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TW" sz="750" b="0" u="none" strike="noStrike">
                <a:solidFill>
                  <a:srgbClr val="4B5C68"/>
                </a:solidFill>
                <a:effectLst/>
                <a:uFillTx/>
                <a:latin typeface="Microsoft JhengHei"/>
                <a:ea typeface="Microsoft JhengHei"/>
              </a:rPr>
              <a:t>三檔配置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"/>
          <p:cNvSpPr/>
          <p:nvPr/>
        </p:nvSpPr>
        <p:spPr>
          <a:xfrm>
            <a:off x="685800" y="5162400"/>
            <a:ext cx="9905760" cy="5522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TW" sz="1650" b="1" u="none" strike="noStrike">
                <a:solidFill>
                  <a:srgbClr val="071018"/>
                </a:solidFill>
                <a:effectLst/>
                <a:uFillTx/>
                <a:latin typeface="Microsoft JhengHei"/>
                <a:ea typeface="Microsoft JhengHei"/>
              </a:rPr>
              <a:t>報告主軸：此專案不是單純預測明天漲跌，而是訓練一個能依市場狀態調整部位、控制成本與回撤的交易策略。</a:t>
            </a:r>
            <a:endParaRPr lang="en-US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"/>
          <p:cNvSpPr/>
          <p:nvPr/>
        </p:nvSpPr>
        <p:spPr>
          <a:xfrm>
            <a:off x="685800" y="6438960"/>
            <a:ext cx="10820160" cy="9000"/>
          </a:xfrm>
          <a:prstGeom prst="rect">
            <a:avLst/>
          </a:prstGeom>
          <a:solidFill>
            <a:srgbClr val="C4D1D5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"/>
          <p:cNvSpPr/>
          <p:nvPr/>
        </p:nvSpPr>
        <p:spPr>
          <a:xfrm>
            <a:off x="685800" y="6534000"/>
            <a:ext cx="838152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4B5C68"/>
                </a:solidFill>
                <a:effectLst/>
                <a:uFillTx/>
                <a:latin typeface="Microsoft JhengHei"/>
                <a:ea typeface="Microsoft JhengHei"/>
              </a:rPr>
              <a:t>Source: README.md, train_pipeline.py, twse_pipeline_common.py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"/>
          <p:cNvSpPr/>
          <p:nvPr/>
        </p:nvSpPr>
        <p:spPr>
          <a:xfrm>
            <a:off x="11049120" y="6515280"/>
            <a:ext cx="456840" cy="1900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123A56"/>
                </a:solidFill>
                <a:effectLst/>
                <a:uFillTx/>
                <a:latin typeface="Cascadia Mono"/>
                <a:ea typeface="Cascadia Mono"/>
              </a:rPr>
              <a:t>01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7F8F4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kicker-02-marker"/>
          <p:cNvSpPr/>
          <p:nvPr/>
        </p:nvSpPr>
        <p:spPr>
          <a:xfrm>
            <a:off x="685800" y="495360"/>
            <a:ext cx="323640" cy="56880"/>
          </a:xfrm>
          <a:prstGeom prst="rect">
            <a:avLst/>
          </a:prstGeom>
          <a:solidFill>
            <a:srgbClr val="FF725F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12240" rIns="90000" bIns="122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kicker-02-label"/>
          <p:cNvSpPr/>
          <p:nvPr/>
        </p:nvSpPr>
        <p:spPr>
          <a:xfrm>
            <a:off x="1123920" y="419040"/>
            <a:ext cx="4952520" cy="2282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1908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1" u="none" strike="noStrike">
                <a:solidFill>
                  <a:srgbClr val="356B85"/>
                </a:solidFill>
                <a:effectLst/>
                <a:uFillTx/>
                <a:latin typeface="Microsoft JhengHei"/>
                <a:ea typeface="Microsoft JhengHei"/>
              </a:rPr>
              <a:t>PROJECT OVERVIEW</a:t>
            </a:r>
            <a:endParaRPr lang="en-US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"/>
          <p:cNvSpPr/>
          <p:nvPr/>
        </p:nvSpPr>
        <p:spPr>
          <a:xfrm>
            <a:off x="685800" y="800280"/>
            <a:ext cx="10096200" cy="8949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TW" sz="2700" b="1" u="none" strike="noStrike">
                <a:solidFill>
                  <a:srgbClr val="071018"/>
                </a:solidFill>
                <a:effectLst/>
                <a:uFillTx/>
                <a:latin typeface="Microsoft JhengHei"/>
                <a:ea typeface="Microsoft JhengHei"/>
              </a:rPr>
              <a:t>專案目標：把主觀交易概念，整理成可訓練、可回測、可推論的流程。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"/>
          <p:cNvSpPr/>
          <p:nvPr/>
        </p:nvSpPr>
        <p:spPr>
          <a:xfrm>
            <a:off x="685800" y="1952640"/>
            <a:ext cx="3333240" cy="3142800"/>
          </a:xfrm>
          <a:prstGeom prst="rect">
            <a:avLst/>
          </a:prstGeom>
          <a:solidFill>
            <a:srgbClr val="FFFFFF"/>
          </a:solidFill>
          <a:ln w="9525">
            <a:solidFill>
              <a:srgbClr val="C4D1D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"/>
          <p:cNvSpPr/>
          <p:nvPr/>
        </p:nvSpPr>
        <p:spPr>
          <a:xfrm>
            <a:off x="933480" y="2209680"/>
            <a:ext cx="2476080" cy="2854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TW" sz="1870" b="1" u="none" strike="noStrike">
                <a:solidFill>
                  <a:srgbClr val="123A56"/>
                </a:solidFill>
                <a:effectLst/>
                <a:uFillTx/>
                <a:latin typeface="Microsoft JhengHei"/>
                <a:ea typeface="Microsoft JhengHei"/>
              </a:rPr>
              <a:t>輸入資料</a:t>
            </a:r>
            <a:endParaRPr lang="en-US" sz="18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"/>
          <p:cNvSpPr/>
          <p:nvPr/>
        </p:nvSpPr>
        <p:spPr>
          <a:xfrm>
            <a:off x="952560" y="2857680"/>
            <a:ext cx="75960" cy="75960"/>
          </a:xfrm>
          <a:prstGeom prst="rect">
            <a:avLst/>
          </a:prstGeom>
          <a:solidFill>
            <a:srgbClr val="356B85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"/>
          <p:cNvSpPr/>
          <p:nvPr/>
        </p:nvSpPr>
        <p:spPr>
          <a:xfrm>
            <a:off x="1123920" y="2781360"/>
            <a:ext cx="2447640" cy="5140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TW" sz="1350" b="0" u="none" strike="noStrike">
                <a:solidFill>
                  <a:srgbClr val="071018"/>
                </a:solidFill>
                <a:effectLst/>
                <a:uFillTx/>
                <a:latin typeface="Microsoft JhengHei"/>
                <a:ea typeface="Microsoft JhengHei"/>
              </a:rPr>
              <a:t>台股日線 </a:t>
            </a:r>
            <a:r>
              <a:rPr lang="en-US" sz="1350" b="0" u="none" strike="noStrike">
                <a:solidFill>
                  <a:srgbClr val="071018"/>
                </a:solidFill>
                <a:effectLst/>
                <a:uFillTx/>
                <a:latin typeface="Microsoft JhengHei"/>
                <a:ea typeface="Microsoft JhengHei"/>
              </a:rPr>
              <a:t>OHLCV</a:t>
            </a:r>
            <a:r>
              <a:rPr lang="zh-TW" sz="1350" b="0" u="none" strike="noStrike">
                <a:solidFill>
                  <a:srgbClr val="071018"/>
                </a:solidFill>
                <a:effectLst/>
                <a:uFillTx/>
                <a:latin typeface="Microsoft JhengHei"/>
                <a:ea typeface="Microsoft JhengHei"/>
              </a:rPr>
              <a:t>：開盤、最高、最低、收盤、成交量。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"/>
          <p:cNvSpPr/>
          <p:nvPr/>
        </p:nvSpPr>
        <p:spPr>
          <a:xfrm>
            <a:off x="952560" y="3657600"/>
            <a:ext cx="75960" cy="75960"/>
          </a:xfrm>
          <a:prstGeom prst="rect">
            <a:avLst/>
          </a:prstGeom>
          <a:solidFill>
            <a:srgbClr val="FF725F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"/>
          <p:cNvSpPr/>
          <p:nvPr/>
        </p:nvSpPr>
        <p:spPr>
          <a:xfrm>
            <a:off x="1123920" y="3581280"/>
            <a:ext cx="2447640" cy="5140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TW" sz="1350" b="0" u="none" strike="noStrike">
                <a:solidFill>
                  <a:srgbClr val="071018"/>
                </a:solidFill>
                <a:effectLst/>
                <a:uFillTx/>
                <a:latin typeface="Microsoft JhengHei"/>
                <a:ea typeface="Microsoft JhengHei"/>
              </a:rPr>
              <a:t>由價格計算 </a:t>
            </a:r>
            <a:r>
              <a:rPr lang="en-US" sz="1350" b="0" u="none" strike="noStrike">
                <a:solidFill>
                  <a:srgbClr val="071018"/>
                </a:solidFill>
                <a:effectLst/>
                <a:uFillTx/>
                <a:latin typeface="Microsoft JhengHei"/>
                <a:ea typeface="Microsoft JhengHei"/>
              </a:rPr>
              <a:t>SMC </a:t>
            </a:r>
            <a:r>
              <a:rPr lang="zh-TW" sz="1350" b="0" u="none" strike="noStrike">
                <a:solidFill>
                  <a:srgbClr val="071018"/>
                </a:solidFill>
                <a:effectLst/>
                <a:uFillTx/>
                <a:latin typeface="Microsoft JhengHei"/>
                <a:ea typeface="Microsoft JhengHei"/>
              </a:rPr>
              <a:t>特徵與 </a:t>
            </a:r>
            <a:r>
              <a:rPr lang="en-US" sz="1350" b="0" u="none" strike="noStrike">
                <a:solidFill>
                  <a:srgbClr val="071018"/>
                </a:solidFill>
                <a:effectLst/>
                <a:uFillTx/>
                <a:latin typeface="Microsoft JhengHei"/>
                <a:ea typeface="Microsoft JhengHei"/>
              </a:rPr>
              <a:t>20 </a:t>
            </a:r>
            <a:r>
              <a:rPr lang="zh-TW" sz="1350" b="0" u="none" strike="noStrike">
                <a:solidFill>
                  <a:srgbClr val="071018"/>
                </a:solidFill>
                <a:effectLst/>
                <a:uFillTx/>
                <a:latin typeface="Microsoft JhengHei"/>
                <a:ea typeface="Microsoft JhengHei"/>
              </a:rPr>
              <a:t>日價差 </a:t>
            </a:r>
            <a:r>
              <a:rPr lang="en-US" sz="1350" b="0" u="none" strike="noStrike">
                <a:solidFill>
                  <a:srgbClr val="071018"/>
                </a:solidFill>
                <a:effectLst/>
                <a:uFillTx/>
                <a:latin typeface="Microsoft JhengHei"/>
                <a:ea typeface="Microsoft JhengHei"/>
              </a:rPr>
              <a:t>z-score</a:t>
            </a:r>
            <a:r>
              <a:rPr lang="zh-TW" sz="1350" b="0" u="none" strike="noStrike">
                <a:solidFill>
                  <a:srgbClr val="071018"/>
                </a:solidFill>
                <a:effectLst/>
                <a:uFillTx/>
                <a:latin typeface="Microsoft JhengHei"/>
                <a:ea typeface="Microsoft JhengHei"/>
              </a:rPr>
              <a:t>。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"/>
          <p:cNvSpPr/>
          <p:nvPr/>
        </p:nvSpPr>
        <p:spPr>
          <a:xfrm>
            <a:off x="952560" y="4438800"/>
            <a:ext cx="75960" cy="75960"/>
          </a:xfrm>
          <a:prstGeom prst="rect">
            <a:avLst/>
          </a:prstGeom>
          <a:solidFill>
            <a:srgbClr val="356B85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"/>
          <p:cNvSpPr/>
          <p:nvPr/>
        </p:nvSpPr>
        <p:spPr>
          <a:xfrm>
            <a:off x="1123920" y="4362480"/>
            <a:ext cx="2447640" cy="5140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TW" sz="1350" b="0" u="none" strike="noStrike">
                <a:solidFill>
                  <a:srgbClr val="071018"/>
                </a:solidFill>
                <a:effectLst/>
                <a:uFillTx/>
                <a:latin typeface="Microsoft JhengHei"/>
                <a:ea typeface="Microsoft JhengHei"/>
              </a:rPr>
              <a:t>使用時間切分，避免用未來資料訓練模型。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"/>
          <p:cNvSpPr/>
          <p:nvPr/>
        </p:nvSpPr>
        <p:spPr>
          <a:xfrm>
            <a:off x="4429080" y="1952640"/>
            <a:ext cx="3333240" cy="3142800"/>
          </a:xfrm>
          <a:prstGeom prst="rect">
            <a:avLst/>
          </a:prstGeom>
          <a:solidFill>
            <a:srgbClr val="EEF4F3"/>
          </a:solidFill>
          <a:ln w="9525">
            <a:solidFill>
              <a:srgbClr val="C4D1D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"/>
          <p:cNvSpPr/>
          <p:nvPr/>
        </p:nvSpPr>
        <p:spPr>
          <a:xfrm>
            <a:off x="4676760" y="2209680"/>
            <a:ext cx="2476080" cy="2854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TW" sz="1870" b="1" u="none" strike="noStrike">
                <a:solidFill>
                  <a:srgbClr val="356B85"/>
                </a:solidFill>
                <a:effectLst/>
                <a:uFillTx/>
                <a:latin typeface="Microsoft JhengHei"/>
                <a:ea typeface="Microsoft JhengHei"/>
              </a:rPr>
              <a:t>模型任務</a:t>
            </a:r>
            <a:endParaRPr lang="en-US" sz="18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"/>
          <p:cNvSpPr/>
          <p:nvPr/>
        </p:nvSpPr>
        <p:spPr>
          <a:xfrm>
            <a:off x="4695840" y="2857680"/>
            <a:ext cx="75960" cy="75960"/>
          </a:xfrm>
          <a:prstGeom prst="rect">
            <a:avLst/>
          </a:prstGeom>
          <a:solidFill>
            <a:srgbClr val="356B85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"/>
          <p:cNvSpPr/>
          <p:nvPr/>
        </p:nvSpPr>
        <p:spPr>
          <a:xfrm>
            <a:off x="4867200" y="2781360"/>
            <a:ext cx="2447640" cy="5140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71018"/>
                </a:solidFill>
                <a:effectLst/>
                <a:uFillTx/>
                <a:latin typeface="Microsoft JhengHei"/>
                <a:ea typeface="Microsoft JhengHei"/>
              </a:rPr>
              <a:t>PPO </a:t>
            </a:r>
            <a:r>
              <a:rPr lang="zh-TW" sz="1350" b="0" u="none" strike="noStrike">
                <a:solidFill>
                  <a:srgbClr val="071018"/>
                </a:solidFill>
                <a:effectLst/>
                <a:uFillTx/>
                <a:latin typeface="Microsoft JhengHei"/>
                <a:ea typeface="Microsoft JhengHei"/>
              </a:rPr>
              <a:t>讀取目前市場狀態，輸出買進比例或資金權重。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"/>
          <p:cNvSpPr/>
          <p:nvPr/>
        </p:nvSpPr>
        <p:spPr>
          <a:xfrm>
            <a:off x="4695840" y="3657600"/>
            <a:ext cx="75960" cy="75960"/>
          </a:xfrm>
          <a:prstGeom prst="rect">
            <a:avLst/>
          </a:prstGeom>
          <a:solidFill>
            <a:srgbClr val="FF725F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"/>
          <p:cNvSpPr/>
          <p:nvPr/>
        </p:nvSpPr>
        <p:spPr>
          <a:xfrm>
            <a:off x="4867200" y="3581280"/>
            <a:ext cx="2447640" cy="5140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71018"/>
                </a:solidFill>
                <a:effectLst/>
                <a:uFillTx/>
                <a:latin typeface="Microsoft JhengHei"/>
                <a:ea typeface="Microsoft JhengHei"/>
              </a:rPr>
              <a:t>Pair </a:t>
            </a:r>
            <a:r>
              <a:rPr lang="zh-TW" sz="1350" b="0" u="none" strike="noStrike">
                <a:solidFill>
                  <a:srgbClr val="071018"/>
                </a:solidFill>
                <a:effectLst/>
                <a:uFillTx/>
                <a:latin typeface="Microsoft JhengHei"/>
                <a:ea typeface="Microsoft JhengHei"/>
              </a:rPr>
              <a:t>模型在 </a:t>
            </a:r>
            <a:r>
              <a:rPr lang="en-US" sz="1350" b="0" u="none" strike="noStrike">
                <a:solidFill>
                  <a:srgbClr val="071018"/>
                </a:solidFill>
                <a:effectLst/>
                <a:uFillTx/>
                <a:latin typeface="Microsoft JhengHei"/>
                <a:ea typeface="Microsoft JhengHei"/>
              </a:rPr>
              <a:t>0050 </a:t>
            </a:r>
            <a:r>
              <a:rPr lang="zh-TW" sz="1350" b="0" u="none" strike="noStrike">
                <a:solidFill>
                  <a:srgbClr val="071018"/>
                </a:solidFill>
                <a:effectLst/>
                <a:uFillTx/>
                <a:latin typeface="Microsoft JhengHei"/>
                <a:ea typeface="Microsoft JhengHei"/>
              </a:rPr>
              <a:t>與 </a:t>
            </a:r>
            <a:r>
              <a:rPr lang="en-US" sz="1350" b="0" u="none" strike="noStrike">
                <a:solidFill>
                  <a:srgbClr val="071018"/>
                </a:solidFill>
                <a:effectLst/>
                <a:uFillTx/>
                <a:latin typeface="Microsoft JhengHei"/>
                <a:ea typeface="Microsoft JhengHei"/>
              </a:rPr>
              <a:t>2330 </a:t>
            </a:r>
            <a:r>
              <a:rPr lang="zh-TW" sz="1350" b="0" u="none" strike="noStrike">
                <a:solidFill>
                  <a:srgbClr val="071018"/>
                </a:solidFill>
                <a:effectLst/>
                <a:uFillTx/>
                <a:latin typeface="Microsoft JhengHei"/>
                <a:ea typeface="Microsoft JhengHei"/>
              </a:rPr>
              <a:t>之間做選擇。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"/>
          <p:cNvSpPr/>
          <p:nvPr/>
        </p:nvSpPr>
        <p:spPr>
          <a:xfrm>
            <a:off x="4695840" y="4438800"/>
            <a:ext cx="75960" cy="75960"/>
          </a:xfrm>
          <a:prstGeom prst="rect">
            <a:avLst/>
          </a:prstGeom>
          <a:solidFill>
            <a:srgbClr val="356B85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"/>
          <p:cNvSpPr/>
          <p:nvPr/>
        </p:nvSpPr>
        <p:spPr>
          <a:xfrm>
            <a:off x="4867200" y="4362480"/>
            <a:ext cx="2447640" cy="5140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71018"/>
                </a:solidFill>
                <a:effectLst/>
                <a:uFillTx/>
                <a:latin typeface="Microsoft JhengHei"/>
                <a:ea typeface="Microsoft JhengHei"/>
              </a:rPr>
              <a:t>Basket </a:t>
            </a:r>
            <a:r>
              <a:rPr lang="zh-TW" sz="1350" b="0" u="none" strike="noStrike">
                <a:solidFill>
                  <a:srgbClr val="071018"/>
                </a:solidFill>
                <a:effectLst/>
                <a:uFillTx/>
                <a:latin typeface="Microsoft JhengHei"/>
                <a:ea typeface="Microsoft JhengHei"/>
              </a:rPr>
              <a:t>模型在 </a:t>
            </a:r>
            <a:r>
              <a:rPr lang="en-US" sz="1350" b="0" u="none" strike="noStrike">
                <a:solidFill>
                  <a:srgbClr val="071018"/>
                </a:solidFill>
                <a:effectLst/>
                <a:uFillTx/>
                <a:latin typeface="Microsoft JhengHei"/>
                <a:ea typeface="Microsoft JhengHei"/>
              </a:rPr>
              <a:t>0050</a:t>
            </a:r>
            <a:r>
              <a:rPr lang="zh-TW" sz="1350" b="0" u="none" strike="noStrike">
                <a:solidFill>
                  <a:srgbClr val="071018"/>
                </a:solidFill>
                <a:effectLst/>
                <a:uFillTx/>
                <a:latin typeface="Microsoft JhengHei"/>
                <a:ea typeface="Microsoft JhengHei"/>
              </a:rPr>
              <a:t>、</a:t>
            </a:r>
            <a:r>
              <a:rPr lang="en-US" sz="1350" b="0" u="none" strike="noStrike">
                <a:solidFill>
                  <a:srgbClr val="071018"/>
                </a:solidFill>
                <a:effectLst/>
                <a:uFillTx/>
                <a:latin typeface="Microsoft JhengHei"/>
                <a:ea typeface="Microsoft JhengHei"/>
              </a:rPr>
              <a:t>2330</a:t>
            </a:r>
            <a:r>
              <a:rPr lang="zh-TW" sz="1350" b="0" u="none" strike="noStrike">
                <a:solidFill>
                  <a:srgbClr val="071018"/>
                </a:solidFill>
                <a:effectLst/>
                <a:uFillTx/>
                <a:latin typeface="Microsoft JhengHei"/>
                <a:ea typeface="Microsoft JhengHei"/>
              </a:rPr>
              <a:t>、</a:t>
            </a:r>
            <a:r>
              <a:rPr lang="en-US" sz="1350" b="0" u="none" strike="noStrike">
                <a:solidFill>
                  <a:srgbClr val="071018"/>
                </a:solidFill>
                <a:effectLst/>
                <a:uFillTx/>
                <a:latin typeface="Microsoft JhengHei"/>
                <a:ea typeface="Microsoft JhengHei"/>
              </a:rPr>
              <a:t>2412 </a:t>
            </a:r>
            <a:r>
              <a:rPr lang="zh-TW" sz="1350" b="0" u="none" strike="noStrike">
                <a:solidFill>
                  <a:srgbClr val="071018"/>
                </a:solidFill>
                <a:effectLst/>
                <a:uFillTx/>
                <a:latin typeface="Microsoft JhengHei"/>
                <a:ea typeface="Microsoft JhengHei"/>
              </a:rPr>
              <a:t>之間分散配置。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"/>
          <p:cNvSpPr/>
          <p:nvPr/>
        </p:nvSpPr>
        <p:spPr>
          <a:xfrm>
            <a:off x="8172360" y="1952640"/>
            <a:ext cx="3333240" cy="3142800"/>
          </a:xfrm>
          <a:prstGeom prst="rect">
            <a:avLst/>
          </a:prstGeom>
          <a:solidFill>
            <a:srgbClr val="FFFFFF"/>
          </a:solidFill>
          <a:ln w="9525">
            <a:solidFill>
              <a:srgbClr val="C4D1D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"/>
          <p:cNvSpPr/>
          <p:nvPr/>
        </p:nvSpPr>
        <p:spPr>
          <a:xfrm>
            <a:off x="8420040" y="2209680"/>
            <a:ext cx="2476080" cy="2854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TW" sz="1870" b="1" u="none" strike="noStrike">
                <a:solidFill>
                  <a:srgbClr val="123A56"/>
                </a:solidFill>
                <a:effectLst/>
                <a:uFillTx/>
                <a:latin typeface="Microsoft JhengHei"/>
                <a:ea typeface="Microsoft JhengHei"/>
              </a:rPr>
              <a:t>評估方式</a:t>
            </a:r>
            <a:endParaRPr lang="en-US" sz="18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"/>
          <p:cNvSpPr/>
          <p:nvPr/>
        </p:nvSpPr>
        <p:spPr>
          <a:xfrm>
            <a:off x="8439120" y="2857680"/>
            <a:ext cx="75960" cy="75960"/>
          </a:xfrm>
          <a:prstGeom prst="rect">
            <a:avLst/>
          </a:prstGeom>
          <a:solidFill>
            <a:srgbClr val="356B85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"/>
          <p:cNvSpPr/>
          <p:nvPr/>
        </p:nvSpPr>
        <p:spPr>
          <a:xfrm>
            <a:off x="8610480" y="2781360"/>
            <a:ext cx="2447640" cy="5140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TW" sz="1350" b="0" u="none" strike="noStrike">
                <a:solidFill>
                  <a:srgbClr val="071018"/>
                </a:solidFill>
                <a:effectLst/>
                <a:uFillTx/>
                <a:latin typeface="Microsoft JhengHei"/>
                <a:ea typeface="Microsoft JhengHei"/>
              </a:rPr>
              <a:t>推論期間不再訓練，只載入已訓練好的 </a:t>
            </a:r>
            <a:r>
              <a:rPr lang="en-US" sz="1350" b="0" u="none" strike="noStrike">
                <a:solidFill>
                  <a:srgbClr val="071018"/>
                </a:solidFill>
                <a:effectLst/>
                <a:uFillTx/>
                <a:latin typeface="Microsoft JhengHei"/>
                <a:ea typeface="Microsoft JhengHei"/>
              </a:rPr>
              <a:t>PPO </a:t>
            </a:r>
            <a:r>
              <a:rPr lang="zh-TW" sz="1350" b="0" u="none" strike="noStrike">
                <a:solidFill>
                  <a:srgbClr val="071018"/>
                </a:solidFill>
                <a:effectLst/>
                <a:uFillTx/>
                <a:latin typeface="Microsoft JhengHei"/>
                <a:ea typeface="Microsoft JhengHei"/>
              </a:rPr>
              <a:t>權重。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"/>
          <p:cNvSpPr/>
          <p:nvPr/>
        </p:nvSpPr>
        <p:spPr>
          <a:xfrm>
            <a:off x="8439120" y="3657600"/>
            <a:ext cx="75960" cy="75960"/>
          </a:xfrm>
          <a:prstGeom prst="rect">
            <a:avLst/>
          </a:prstGeom>
          <a:solidFill>
            <a:srgbClr val="FF725F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"/>
          <p:cNvSpPr/>
          <p:nvPr/>
        </p:nvSpPr>
        <p:spPr>
          <a:xfrm>
            <a:off x="8610480" y="3581280"/>
            <a:ext cx="2447640" cy="5140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TW" sz="1350" b="0" u="none" strike="noStrike">
                <a:solidFill>
                  <a:srgbClr val="071018"/>
                </a:solidFill>
                <a:effectLst/>
                <a:uFillTx/>
                <a:latin typeface="Microsoft JhengHei"/>
                <a:ea typeface="Microsoft JhengHei"/>
              </a:rPr>
              <a:t>用累積報酬率、</a:t>
            </a:r>
            <a:r>
              <a:rPr lang="en-US" sz="1350" b="0" u="none" strike="noStrike">
                <a:solidFill>
                  <a:srgbClr val="071018"/>
                </a:solidFill>
                <a:effectLst/>
                <a:uFillTx/>
                <a:latin typeface="Microsoft JhengHei"/>
                <a:ea typeface="Microsoft JhengHei"/>
              </a:rPr>
              <a:t>Sharpe Ratio</a:t>
            </a:r>
            <a:r>
              <a:rPr lang="zh-TW" sz="1350" b="0" u="none" strike="noStrike">
                <a:solidFill>
                  <a:srgbClr val="071018"/>
                </a:solidFill>
                <a:effectLst/>
                <a:uFillTx/>
                <a:latin typeface="Microsoft JhengHei"/>
                <a:ea typeface="Microsoft JhengHei"/>
              </a:rPr>
              <a:t>、最大回撤評估策略品質。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"/>
          <p:cNvSpPr/>
          <p:nvPr/>
        </p:nvSpPr>
        <p:spPr>
          <a:xfrm>
            <a:off x="8439120" y="4438800"/>
            <a:ext cx="75960" cy="75960"/>
          </a:xfrm>
          <a:prstGeom prst="rect">
            <a:avLst/>
          </a:prstGeom>
          <a:solidFill>
            <a:srgbClr val="356B85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"/>
          <p:cNvSpPr/>
          <p:nvPr/>
        </p:nvSpPr>
        <p:spPr>
          <a:xfrm>
            <a:off x="8610480" y="4362480"/>
            <a:ext cx="2447640" cy="5140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TW" sz="1350" b="0" u="none" strike="noStrike">
                <a:solidFill>
                  <a:srgbClr val="071018"/>
                </a:solidFill>
                <a:effectLst/>
                <a:uFillTx/>
                <a:latin typeface="Microsoft JhengHei"/>
                <a:ea typeface="Microsoft JhengHei"/>
              </a:rPr>
              <a:t>同時記錄交易成本、稅費與漲停導致的失敗委託。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"/>
          <p:cNvSpPr/>
          <p:nvPr/>
        </p:nvSpPr>
        <p:spPr>
          <a:xfrm>
            <a:off x="685800" y="6438960"/>
            <a:ext cx="10820160" cy="9000"/>
          </a:xfrm>
          <a:prstGeom prst="rect">
            <a:avLst/>
          </a:prstGeom>
          <a:solidFill>
            <a:srgbClr val="C4D1D5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"/>
          <p:cNvSpPr/>
          <p:nvPr/>
        </p:nvSpPr>
        <p:spPr>
          <a:xfrm>
            <a:off x="685800" y="6534000"/>
            <a:ext cx="838152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4B5C68"/>
                </a:solidFill>
                <a:effectLst/>
                <a:uFillTx/>
                <a:latin typeface="Microsoft JhengHei"/>
                <a:ea typeface="Microsoft JhengHei"/>
              </a:rPr>
              <a:t>Source: app.py, predict_pipeline.py, twse_pipeline_common.py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"/>
          <p:cNvSpPr/>
          <p:nvPr/>
        </p:nvSpPr>
        <p:spPr>
          <a:xfrm>
            <a:off x="11049120" y="6515280"/>
            <a:ext cx="456840" cy="1900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123A56"/>
                </a:solidFill>
                <a:effectLst/>
                <a:uFillTx/>
                <a:latin typeface="Cascadia Mono"/>
                <a:ea typeface="Cascadia Mono"/>
              </a:rPr>
              <a:t>02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7F8F4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kicker-03-marker"/>
          <p:cNvSpPr/>
          <p:nvPr/>
        </p:nvSpPr>
        <p:spPr>
          <a:xfrm>
            <a:off x="685800" y="495360"/>
            <a:ext cx="323640" cy="56880"/>
          </a:xfrm>
          <a:prstGeom prst="rect">
            <a:avLst/>
          </a:prstGeom>
          <a:solidFill>
            <a:srgbClr val="FF725F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12240" rIns="90000" bIns="122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kicker-03-label"/>
          <p:cNvSpPr/>
          <p:nvPr/>
        </p:nvSpPr>
        <p:spPr>
          <a:xfrm>
            <a:off x="1123920" y="419040"/>
            <a:ext cx="4952520" cy="2282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1908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1" u="none" strike="noStrike">
                <a:solidFill>
                  <a:srgbClr val="356B85"/>
                </a:solidFill>
                <a:effectLst/>
                <a:uFillTx/>
                <a:latin typeface="Microsoft JhengHei"/>
                <a:ea typeface="Microsoft JhengHei"/>
              </a:rPr>
              <a:t>RELATED WORK 1 / PPO + SMC FLOW</a:t>
            </a:r>
            <a:endParaRPr lang="en-US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"/>
          <p:cNvSpPr/>
          <p:nvPr/>
        </p:nvSpPr>
        <p:spPr>
          <a:xfrm>
            <a:off x="685800" y="800280"/>
            <a:ext cx="10096200" cy="8949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071018"/>
                </a:solidFill>
                <a:effectLst/>
                <a:uFillTx/>
                <a:latin typeface="Microsoft JhengHei"/>
                <a:ea typeface="Microsoft JhengHei"/>
              </a:rPr>
              <a:t>Related work </a:t>
            </a:r>
            <a:r>
              <a:rPr lang="zh-TW" sz="2700" b="1" u="none" strike="noStrike">
                <a:solidFill>
                  <a:srgbClr val="071018"/>
                </a:solidFill>
                <a:effectLst/>
                <a:uFillTx/>
                <a:latin typeface="Microsoft JhengHei"/>
                <a:ea typeface="Microsoft JhengHei"/>
              </a:rPr>
              <a:t>先看整體流程：</a:t>
            </a:r>
            <a:r>
              <a:rPr lang="en-US" sz="2700" b="1" u="none" strike="noStrike">
                <a:solidFill>
                  <a:srgbClr val="071018"/>
                </a:solidFill>
                <a:effectLst/>
                <a:uFillTx/>
                <a:latin typeface="Microsoft JhengHei"/>
                <a:ea typeface="Microsoft JhengHei"/>
              </a:rPr>
              <a:t>SMC </a:t>
            </a:r>
            <a:r>
              <a:rPr lang="zh-TW" sz="2700" b="1" u="none" strike="noStrike">
                <a:solidFill>
                  <a:srgbClr val="071018"/>
                </a:solidFill>
                <a:effectLst/>
                <a:uFillTx/>
                <a:latin typeface="Microsoft JhengHei"/>
                <a:ea typeface="Microsoft JhengHei"/>
              </a:rPr>
              <a:t>負責描述市場，</a:t>
            </a:r>
            <a:r>
              <a:rPr lang="en-US" sz="2700" b="1" u="none" strike="noStrike">
                <a:solidFill>
                  <a:srgbClr val="071018"/>
                </a:solidFill>
                <a:effectLst/>
                <a:uFillTx/>
                <a:latin typeface="Microsoft JhengHei"/>
                <a:ea typeface="Microsoft JhengHei"/>
              </a:rPr>
              <a:t>PPO </a:t>
            </a:r>
            <a:r>
              <a:rPr lang="zh-TW" sz="2700" b="1" u="none" strike="noStrike">
                <a:solidFill>
                  <a:srgbClr val="071018"/>
                </a:solidFill>
                <a:effectLst/>
                <a:uFillTx/>
                <a:latin typeface="Microsoft JhengHei"/>
                <a:ea typeface="Microsoft JhengHei"/>
              </a:rPr>
              <a:t>負責學習配置。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"/>
          <p:cNvSpPr/>
          <p:nvPr/>
        </p:nvSpPr>
        <p:spPr>
          <a:xfrm>
            <a:off x="685800" y="2238480"/>
            <a:ext cx="1695240" cy="171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4D1D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"/>
          <p:cNvSpPr/>
          <p:nvPr/>
        </p:nvSpPr>
        <p:spPr>
          <a:xfrm>
            <a:off x="857160" y="2400480"/>
            <a:ext cx="361440" cy="3614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50" b="1" u="none" strike="noStrike">
                <a:solidFill>
                  <a:srgbClr val="FF725F"/>
                </a:solidFill>
                <a:effectLst/>
                <a:uFillTx/>
                <a:latin typeface="Cascadia Mono"/>
                <a:ea typeface="Cascadia Mono"/>
              </a:rPr>
              <a:t>1</a:t>
            </a:r>
            <a:endParaRPr lang="en-US" sz="1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"/>
          <p:cNvSpPr/>
          <p:nvPr/>
        </p:nvSpPr>
        <p:spPr>
          <a:xfrm>
            <a:off x="1238400" y="2457360"/>
            <a:ext cx="999720" cy="2664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TW" sz="1500" b="1" u="none" strike="noStrike">
                <a:solidFill>
                  <a:srgbClr val="123A56"/>
                </a:solidFill>
                <a:effectLst/>
                <a:uFillTx/>
                <a:latin typeface="Microsoft JhengHei"/>
                <a:ea typeface="Microsoft JhengHei"/>
              </a:rPr>
              <a:t>市場資料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"/>
          <p:cNvSpPr/>
          <p:nvPr/>
        </p:nvSpPr>
        <p:spPr>
          <a:xfrm>
            <a:off x="857160" y="3029040"/>
            <a:ext cx="1314000" cy="6854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TW" sz="1130" b="0" u="none" strike="noStrike">
                <a:solidFill>
                  <a:srgbClr val="4B5C68"/>
                </a:solidFill>
                <a:effectLst/>
                <a:uFillTx/>
                <a:latin typeface="Microsoft JhengHei"/>
                <a:ea typeface="Microsoft JhengHei"/>
              </a:rPr>
              <a:t>台股 </a:t>
            </a:r>
            <a:r>
              <a:rPr lang="en-US" sz="1130" b="0" u="none" strike="noStrike">
                <a:solidFill>
                  <a:srgbClr val="4B5C68"/>
                </a:solidFill>
                <a:effectLst/>
                <a:uFillTx/>
                <a:latin typeface="Microsoft JhengHei"/>
                <a:ea typeface="Microsoft JhengHei"/>
              </a:rPr>
              <a:t>OHLCV</a:t>
            </a:r>
            <a:endParaRPr lang="en-US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TW" sz="1130" b="0" u="none" strike="noStrike">
                <a:solidFill>
                  <a:srgbClr val="4B5C68"/>
                </a:solidFill>
                <a:effectLst/>
                <a:uFillTx/>
                <a:latin typeface="Microsoft JhengHei"/>
                <a:ea typeface="Microsoft JhengHei"/>
              </a:rPr>
              <a:t>日線價格與成交量</a:t>
            </a:r>
            <a:endParaRPr lang="en-US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"/>
          <p:cNvSpPr/>
          <p:nvPr/>
        </p:nvSpPr>
        <p:spPr>
          <a:xfrm>
            <a:off x="2428920" y="3086280"/>
            <a:ext cx="380520" cy="37800"/>
          </a:xfrm>
          <a:prstGeom prst="rect">
            <a:avLst/>
          </a:prstGeom>
          <a:solidFill>
            <a:srgbClr val="356B85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"/>
          <p:cNvSpPr/>
          <p:nvPr/>
        </p:nvSpPr>
        <p:spPr>
          <a:xfrm>
            <a:off x="2714760" y="3038400"/>
            <a:ext cx="132840" cy="132840"/>
          </a:xfrm>
          <a:prstGeom prst="rect">
            <a:avLst/>
          </a:prstGeom>
          <a:solidFill>
            <a:srgbClr val="356B85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"/>
          <p:cNvSpPr/>
          <p:nvPr/>
        </p:nvSpPr>
        <p:spPr>
          <a:xfrm>
            <a:off x="2857680" y="2238480"/>
            <a:ext cx="1695240" cy="1714320"/>
          </a:xfrm>
          <a:prstGeom prst="rect">
            <a:avLst/>
          </a:prstGeom>
          <a:solidFill>
            <a:srgbClr val="EEF4F3"/>
          </a:solidFill>
          <a:ln w="9525">
            <a:solidFill>
              <a:srgbClr val="C4D1D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"/>
          <p:cNvSpPr/>
          <p:nvPr/>
        </p:nvSpPr>
        <p:spPr>
          <a:xfrm>
            <a:off x="3029040" y="2400480"/>
            <a:ext cx="361440" cy="3614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50" b="1" u="none" strike="noStrike">
                <a:solidFill>
                  <a:srgbClr val="FF725F"/>
                </a:solidFill>
                <a:effectLst/>
                <a:uFillTx/>
                <a:latin typeface="Cascadia Mono"/>
                <a:ea typeface="Cascadia Mono"/>
              </a:rPr>
              <a:t>2</a:t>
            </a:r>
            <a:endParaRPr lang="en-US" sz="1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"/>
          <p:cNvSpPr/>
          <p:nvPr/>
        </p:nvSpPr>
        <p:spPr>
          <a:xfrm>
            <a:off x="3409920" y="2457360"/>
            <a:ext cx="999720" cy="2664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23A56"/>
                </a:solidFill>
                <a:effectLst/>
                <a:uFillTx/>
                <a:latin typeface="Microsoft JhengHei"/>
                <a:ea typeface="Microsoft JhengHei"/>
              </a:rPr>
              <a:t>SMC </a:t>
            </a:r>
            <a:r>
              <a:rPr lang="zh-TW" sz="1500" b="1" u="none" strike="noStrike">
                <a:solidFill>
                  <a:srgbClr val="123A56"/>
                </a:solidFill>
                <a:effectLst/>
                <a:uFillTx/>
                <a:latin typeface="Microsoft JhengHei"/>
                <a:ea typeface="Microsoft JhengHei"/>
              </a:rPr>
              <a:t>訊號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"/>
          <p:cNvSpPr/>
          <p:nvPr/>
        </p:nvSpPr>
        <p:spPr>
          <a:xfrm>
            <a:off x="3029040" y="3029040"/>
            <a:ext cx="1314000" cy="6854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4B5C68"/>
                </a:solidFill>
                <a:effectLst/>
                <a:uFillTx/>
                <a:latin typeface="Microsoft JhengHei"/>
                <a:ea typeface="Microsoft JhengHei"/>
              </a:rPr>
              <a:t>Premium / Discount</a:t>
            </a:r>
            <a:endParaRPr lang="en-US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4B5C68"/>
                </a:solidFill>
                <a:effectLst/>
                <a:uFillTx/>
                <a:latin typeface="Microsoft JhengHei"/>
                <a:ea typeface="Microsoft JhengHei"/>
              </a:rPr>
              <a:t>Order Block</a:t>
            </a:r>
            <a:endParaRPr lang="en-US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4B5C68"/>
                </a:solidFill>
                <a:effectLst/>
                <a:uFillTx/>
                <a:latin typeface="Microsoft JhengHei"/>
                <a:ea typeface="Microsoft JhengHei"/>
              </a:rPr>
              <a:t>Fair Value Gap</a:t>
            </a:r>
            <a:endParaRPr lang="en-US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"/>
          <p:cNvSpPr/>
          <p:nvPr/>
        </p:nvSpPr>
        <p:spPr>
          <a:xfrm>
            <a:off x="4600440" y="3086280"/>
            <a:ext cx="380520" cy="37800"/>
          </a:xfrm>
          <a:prstGeom prst="rect">
            <a:avLst/>
          </a:prstGeom>
          <a:solidFill>
            <a:srgbClr val="356B85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"/>
          <p:cNvSpPr/>
          <p:nvPr/>
        </p:nvSpPr>
        <p:spPr>
          <a:xfrm>
            <a:off x="4886280" y="3038400"/>
            <a:ext cx="132840" cy="132840"/>
          </a:xfrm>
          <a:prstGeom prst="rect">
            <a:avLst/>
          </a:prstGeom>
          <a:solidFill>
            <a:srgbClr val="356B85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"/>
          <p:cNvSpPr/>
          <p:nvPr/>
        </p:nvSpPr>
        <p:spPr>
          <a:xfrm>
            <a:off x="5029200" y="2238480"/>
            <a:ext cx="1695240" cy="171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4D1D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"/>
          <p:cNvSpPr/>
          <p:nvPr/>
        </p:nvSpPr>
        <p:spPr>
          <a:xfrm>
            <a:off x="5200560" y="2400480"/>
            <a:ext cx="361440" cy="3614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50" b="1" u="none" strike="noStrike">
                <a:solidFill>
                  <a:srgbClr val="FF725F"/>
                </a:solidFill>
                <a:effectLst/>
                <a:uFillTx/>
                <a:latin typeface="Cascadia Mono"/>
                <a:ea typeface="Cascadia Mono"/>
              </a:rPr>
              <a:t>3</a:t>
            </a:r>
            <a:endParaRPr lang="en-US" sz="1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"/>
          <p:cNvSpPr/>
          <p:nvPr/>
        </p:nvSpPr>
        <p:spPr>
          <a:xfrm>
            <a:off x="5581800" y="2457360"/>
            <a:ext cx="999720" cy="2664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TW" sz="1500" b="1" u="none" strike="noStrike">
                <a:solidFill>
                  <a:srgbClr val="123A56"/>
                </a:solidFill>
                <a:effectLst/>
                <a:uFillTx/>
                <a:latin typeface="Microsoft JhengHei"/>
                <a:ea typeface="Microsoft JhengHei"/>
              </a:rPr>
              <a:t>相對價值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"/>
          <p:cNvSpPr/>
          <p:nvPr/>
        </p:nvSpPr>
        <p:spPr>
          <a:xfrm>
            <a:off x="5200560" y="3029040"/>
            <a:ext cx="1314000" cy="6854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4B5C68"/>
                </a:solidFill>
                <a:effectLst/>
                <a:uFillTx/>
                <a:latin typeface="Microsoft JhengHei"/>
                <a:ea typeface="Microsoft JhengHei"/>
              </a:rPr>
              <a:t>Pair / Basket</a:t>
            </a:r>
            <a:endParaRPr lang="en-US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4B5C68"/>
                </a:solidFill>
                <a:effectLst/>
                <a:uFillTx/>
                <a:latin typeface="Microsoft JhengHei"/>
                <a:ea typeface="Microsoft JhengHei"/>
              </a:rPr>
              <a:t>Spread Z-Score</a:t>
            </a:r>
            <a:endParaRPr lang="en-US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"/>
          <p:cNvSpPr/>
          <p:nvPr/>
        </p:nvSpPr>
        <p:spPr>
          <a:xfrm>
            <a:off x="6772320" y="3086280"/>
            <a:ext cx="380520" cy="37800"/>
          </a:xfrm>
          <a:prstGeom prst="rect">
            <a:avLst/>
          </a:prstGeom>
          <a:solidFill>
            <a:srgbClr val="356B85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"/>
          <p:cNvSpPr/>
          <p:nvPr/>
        </p:nvSpPr>
        <p:spPr>
          <a:xfrm>
            <a:off x="7058160" y="3038400"/>
            <a:ext cx="132840" cy="132840"/>
          </a:xfrm>
          <a:prstGeom prst="rect">
            <a:avLst/>
          </a:prstGeom>
          <a:solidFill>
            <a:srgbClr val="356B85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"/>
          <p:cNvSpPr/>
          <p:nvPr/>
        </p:nvSpPr>
        <p:spPr>
          <a:xfrm>
            <a:off x="7201080" y="2238480"/>
            <a:ext cx="1695240" cy="1714320"/>
          </a:xfrm>
          <a:prstGeom prst="rect">
            <a:avLst/>
          </a:prstGeom>
          <a:solidFill>
            <a:srgbClr val="EEF4F3"/>
          </a:solidFill>
          <a:ln w="9525">
            <a:solidFill>
              <a:srgbClr val="C4D1D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"/>
          <p:cNvSpPr/>
          <p:nvPr/>
        </p:nvSpPr>
        <p:spPr>
          <a:xfrm>
            <a:off x="7372440" y="2400480"/>
            <a:ext cx="361440" cy="3614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50" b="1" u="none" strike="noStrike">
                <a:solidFill>
                  <a:srgbClr val="FF725F"/>
                </a:solidFill>
                <a:effectLst/>
                <a:uFillTx/>
                <a:latin typeface="Cascadia Mono"/>
                <a:ea typeface="Cascadia Mono"/>
              </a:rPr>
              <a:t>4</a:t>
            </a:r>
            <a:endParaRPr lang="en-US" sz="1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"/>
          <p:cNvSpPr/>
          <p:nvPr/>
        </p:nvSpPr>
        <p:spPr>
          <a:xfrm>
            <a:off x="7753320" y="2457360"/>
            <a:ext cx="999720" cy="2664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TW" sz="1500" b="1" u="none" strike="noStrike">
                <a:solidFill>
                  <a:srgbClr val="123A56"/>
                </a:solidFill>
                <a:effectLst/>
                <a:uFillTx/>
                <a:latin typeface="Microsoft JhengHei"/>
                <a:ea typeface="Microsoft JhengHei"/>
              </a:rPr>
              <a:t>交易環境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"/>
          <p:cNvSpPr/>
          <p:nvPr/>
        </p:nvSpPr>
        <p:spPr>
          <a:xfrm>
            <a:off x="7372440" y="3029040"/>
            <a:ext cx="1314000" cy="6854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TW" sz="1130" b="0" u="none" strike="noStrike">
                <a:solidFill>
                  <a:srgbClr val="4B5C68"/>
                </a:solidFill>
                <a:effectLst/>
                <a:uFillTx/>
                <a:latin typeface="Microsoft JhengHei"/>
                <a:ea typeface="Microsoft JhengHei"/>
              </a:rPr>
              <a:t>資金、部位、交易成本</a:t>
            </a:r>
            <a:endParaRPr lang="en-US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TW" sz="1130" b="0" u="none" strike="noStrike">
                <a:solidFill>
                  <a:srgbClr val="4B5C68"/>
                </a:solidFill>
                <a:effectLst/>
                <a:uFillTx/>
                <a:latin typeface="Microsoft JhengHei"/>
                <a:ea typeface="Microsoft JhengHei"/>
              </a:rPr>
              <a:t>台股稅費與漲停限制</a:t>
            </a:r>
            <a:endParaRPr lang="en-US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"/>
          <p:cNvSpPr/>
          <p:nvPr/>
        </p:nvSpPr>
        <p:spPr>
          <a:xfrm>
            <a:off x="8943840" y="3086280"/>
            <a:ext cx="380520" cy="37800"/>
          </a:xfrm>
          <a:prstGeom prst="rect">
            <a:avLst/>
          </a:prstGeom>
          <a:solidFill>
            <a:srgbClr val="356B85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"/>
          <p:cNvSpPr/>
          <p:nvPr/>
        </p:nvSpPr>
        <p:spPr>
          <a:xfrm>
            <a:off x="9229680" y="3038400"/>
            <a:ext cx="132840" cy="132840"/>
          </a:xfrm>
          <a:prstGeom prst="rect">
            <a:avLst/>
          </a:prstGeom>
          <a:solidFill>
            <a:srgbClr val="356B85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"/>
          <p:cNvSpPr/>
          <p:nvPr/>
        </p:nvSpPr>
        <p:spPr>
          <a:xfrm>
            <a:off x="9372600" y="2238480"/>
            <a:ext cx="1695240" cy="171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4D1D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"/>
          <p:cNvSpPr/>
          <p:nvPr/>
        </p:nvSpPr>
        <p:spPr>
          <a:xfrm>
            <a:off x="9543960" y="2400480"/>
            <a:ext cx="361440" cy="3614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50" b="1" u="none" strike="noStrike">
                <a:solidFill>
                  <a:srgbClr val="FF725F"/>
                </a:solidFill>
                <a:effectLst/>
                <a:uFillTx/>
                <a:latin typeface="Cascadia Mono"/>
                <a:ea typeface="Cascadia Mono"/>
              </a:rPr>
              <a:t>5</a:t>
            </a:r>
            <a:endParaRPr lang="en-US" sz="1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"/>
          <p:cNvSpPr/>
          <p:nvPr/>
        </p:nvSpPr>
        <p:spPr>
          <a:xfrm>
            <a:off x="9925200" y="2457360"/>
            <a:ext cx="999720" cy="2664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23A56"/>
                </a:solidFill>
                <a:effectLst/>
                <a:uFillTx/>
                <a:latin typeface="Microsoft JhengHei"/>
                <a:ea typeface="Microsoft JhengHei"/>
              </a:rPr>
              <a:t>PPO </a:t>
            </a:r>
            <a:r>
              <a:rPr lang="zh-TW" sz="1500" b="1" u="none" strike="noStrike">
                <a:solidFill>
                  <a:srgbClr val="123A56"/>
                </a:solidFill>
                <a:effectLst/>
                <a:uFillTx/>
                <a:latin typeface="Microsoft JhengHei"/>
                <a:ea typeface="Microsoft JhengHei"/>
              </a:rPr>
              <a:t>決策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"/>
          <p:cNvSpPr/>
          <p:nvPr/>
        </p:nvSpPr>
        <p:spPr>
          <a:xfrm>
            <a:off x="9543960" y="3029040"/>
            <a:ext cx="1314000" cy="6854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TW" sz="1130" b="0" u="none" strike="noStrike">
                <a:solidFill>
                  <a:srgbClr val="4B5C68"/>
                </a:solidFill>
                <a:effectLst/>
                <a:uFillTx/>
                <a:latin typeface="Microsoft JhengHei"/>
                <a:ea typeface="Microsoft JhengHei"/>
              </a:rPr>
              <a:t>輸出 </a:t>
            </a:r>
            <a:r>
              <a:rPr lang="en-US" sz="1130" b="0" u="none" strike="noStrike">
                <a:solidFill>
                  <a:srgbClr val="4B5C68"/>
                </a:solidFill>
                <a:effectLst/>
                <a:uFillTx/>
                <a:latin typeface="Microsoft JhengHei"/>
                <a:ea typeface="Microsoft JhengHei"/>
              </a:rPr>
              <a:t>action</a:t>
            </a:r>
            <a:endParaRPr lang="en-US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TW" sz="1130" b="0" u="none" strike="noStrike">
                <a:solidFill>
                  <a:srgbClr val="4B5C68"/>
                </a:solidFill>
                <a:effectLst/>
                <a:uFillTx/>
                <a:latin typeface="Microsoft JhengHei"/>
                <a:ea typeface="Microsoft JhengHei"/>
              </a:rPr>
              <a:t>轉換為目標權重</a:t>
            </a:r>
            <a:endParaRPr lang="en-US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"/>
          <p:cNvSpPr/>
          <p:nvPr/>
        </p:nvSpPr>
        <p:spPr>
          <a:xfrm>
            <a:off x="1952640" y="4809960"/>
            <a:ext cx="8286480" cy="704520"/>
          </a:xfrm>
          <a:prstGeom prst="rect">
            <a:avLst/>
          </a:prstGeom>
          <a:solidFill>
            <a:srgbClr val="123A56"/>
          </a:solidFill>
          <a:ln w="9525">
            <a:solidFill>
              <a:srgbClr val="123A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"/>
          <p:cNvSpPr/>
          <p:nvPr/>
        </p:nvSpPr>
        <p:spPr>
          <a:xfrm>
            <a:off x="2286000" y="5010120"/>
            <a:ext cx="7619760" cy="2854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TW" sz="1500" b="1" u="none" strike="noStrike">
                <a:solidFill>
                  <a:srgbClr val="FFFFFF"/>
                </a:solidFill>
                <a:effectLst/>
                <a:uFillTx/>
                <a:latin typeface="Microsoft JhengHei"/>
                <a:ea typeface="Microsoft JhengHei"/>
              </a:rPr>
              <a:t>核心概念：</a:t>
            </a: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Microsoft JhengHei"/>
                <a:ea typeface="Microsoft JhengHei"/>
              </a:rPr>
              <a:t>SMC </a:t>
            </a:r>
            <a:r>
              <a:rPr lang="zh-TW" sz="1500" b="1" u="none" strike="noStrike">
                <a:solidFill>
                  <a:srgbClr val="FFFFFF"/>
                </a:solidFill>
                <a:effectLst/>
                <a:uFillTx/>
                <a:latin typeface="Microsoft JhengHei"/>
                <a:ea typeface="Microsoft JhengHei"/>
              </a:rPr>
              <a:t>提供「市場目前在哪裡」；</a:t>
            </a: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Microsoft JhengHei"/>
                <a:ea typeface="Microsoft JhengHei"/>
              </a:rPr>
              <a:t>PPO </a:t>
            </a:r>
            <a:r>
              <a:rPr lang="zh-TW" sz="1500" b="1" u="none" strike="noStrike">
                <a:solidFill>
                  <a:srgbClr val="FFFFFF"/>
                </a:solidFill>
                <a:effectLst/>
                <a:uFillTx/>
                <a:latin typeface="Microsoft JhengHei"/>
                <a:ea typeface="Microsoft JhengHei"/>
              </a:rPr>
              <a:t>學習「此時資金應該放在哪一檔、放多少」。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"/>
          <p:cNvSpPr/>
          <p:nvPr/>
        </p:nvSpPr>
        <p:spPr>
          <a:xfrm>
            <a:off x="685800" y="6438960"/>
            <a:ext cx="10820160" cy="9000"/>
          </a:xfrm>
          <a:prstGeom prst="rect">
            <a:avLst/>
          </a:prstGeom>
          <a:solidFill>
            <a:srgbClr val="C4D1D5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"/>
          <p:cNvSpPr/>
          <p:nvPr/>
        </p:nvSpPr>
        <p:spPr>
          <a:xfrm>
            <a:off x="685800" y="6534000"/>
            <a:ext cx="838152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4B5C68"/>
                </a:solidFill>
                <a:effectLst/>
                <a:uFillTx/>
                <a:latin typeface="Microsoft JhengHei"/>
                <a:ea typeface="Microsoft JhengHei"/>
              </a:rPr>
              <a:t>Source: docs/images/ppo-sarsa-decision-flow.svg, twse_pipeline_common.py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"/>
          <p:cNvSpPr/>
          <p:nvPr/>
        </p:nvSpPr>
        <p:spPr>
          <a:xfrm>
            <a:off x="11049120" y="6515280"/>
            <a:ext cx="456840" cy="1900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123A56"/>
                </a:solidFill>
                <a:effectLst/>
                <a:uFillTx/>
                <a:latin typeface="Cascadia Mono"/>
                <a:ea typeface="Cascadia Mono"/>
              </a:rPr>
              <a:t>03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7F8F4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kicker-04-marker"/>
          <p:cNvSpPr/>
          <p:nvPr/>
        </p:nvSpPr>
        <p:spPr>
          <a:xfrm>
            <a:off x="685800" y="495360"/>
            <a:ext cx="323640" cy="56880"/>
          </a:xfrm>
          <a:prstGeom prst="rect">
            <a:avLst/>
          </a:prstGeom>
          <a:solidFill>
            <a:srgbClr val="FF725F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12240" rIns="90000" bIns="122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kicker-04-label"/>
          <p:cNvSpPr/>
          <p:nvPr/>
        </p:nvSpPr>
        <p:spPr>
          <a:xfrm>
            <a:off x="1123920" y="419040"/>
            <a:ext cx="4952520" cy="2282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1908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1" u="none" strike="noStrike">
                <a:solidFill>
                  <a:srgbClr val="356B85"/>
                </a:solidFill>
                <a:effectLst/>
                <a:uFillTx/>
                <a:latin typeface="Microsoft JhengHei"/>
                <a:ea typeface="Microsoft JhengHei"/>
              </a:rPr>
              <a:t>RELATED WORK 2 / PPO STATE-ACTION-REWARD</a:t>
            </a:r>
            <a:endParaRPr lang="en-US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"/>
          <p:cNvSpPr/>
          <p:nvPr/>
        </p:nvSpPr>
        <p:spPr>
          <a:xfrm>
            <a:off x="685800" y="800280"/>
            <a:ext cx="10096200" cy="8949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071018"/>
                </a:solidFill>
                <a:effectLst/>
                <a:uFillTx/>
                <a:latin typeface="Microsoft JhengHei"/>
                <a:ea typeface="Microsoft JhengHei"/>
              </a:rPr>
              <a:t>PPO </a:t>
            </a:r>
            <a:r>
              <a:rPr lang="zh-TW" sz="2700" b="1" u="none" strike="noStrike">
                <a:solidFill>
                  <a:srgbClr val="071018"/>
                </a:solidFill>
                <a:effectLst/>
                <a:uFillTx/>
                <a:latin typeface="Microsoft JhengHei"/>
                <a:ea typeface="Microsoft JhengHei"/>
              </a:rPr>
              <a:t>在本專案中可理解成 </a:t>
            </a:r>
            <a:r>
              <a:rPr lang="en-US" sz="2700" b="1" u="none" strike="noStrike">
                <a:solidFill>
                  <a:srgbClr val="071018"/>
                </a:solidFill>
                <a:effectLst/>
                <a:uFillTx/>
                <a:latin typeface="Microsoft JhengHei"/>
                <a:ea typeface="Microsoft JhengHei"/>
              </a:rPr>
              <a:t>state</a:t>
            </a:r>
            <a:r>
              <a:rPr lang="zh-TW" sz="2700" b="1" u="none" strike="noStrike">
                <a:solidFill>
                  <a:srgbClr val="071018"/>
                </a:solidFill>
                <a:effectLst/>
                <a:uFillTx/>
                <a:latin typeface="Microsoft JhengHei"/>
                <a:ea typeface="Microsoft JhengHei"/>
              </a:rPr>
              <a:t>、</a:t>
            </a:r>
            <a:r>
              <a:rPr lang="en-US" sz="2700" b="1" u="none" strike="noStrike">
                <a:solidFill>
                  <a:srgbClr val="071018"/>
                </a:solidFill>
                <a:effectLst/>
                <a:uFillTx/>
                <a:latin typeface="Microsoft JhengHei"/>
                <a:ea typeface="Microsoft JhengHei"/>
              </a:rPr>
              <a:t>action</a:t>
            </a:r>
            <a:r>
              <a:rPr lang="zh-TW" sz="2700" b="1" u="none" strike="noStrike">
                <a:solidFill>
                  <a:srgbClr val="071018"/>
                </a:solidFill>
                <a:effectLst/>
                <a:uFillTx/>
                <a:latin typeface="Microsoft JhengHei"/>
                <a:ea typeface="Microsoft JhengHei"/>
              </a:rPr>
              <a:t>、</a:t>
            </a:r>
            <a:r>
              <a:rPr lang="en-US" sz="2700" b="1" u="none" strike="noStrike">
                <a:solidFill>
                  <a:srgbClr val="071018"/>
                </a:solidFill>
                <a:effectLst/>
                <a:uFillTx/>
                <a:latin typeface="Microsoft JhengHei"/>
                <a:ea typeface="Microsoft JhengHei"/>
              </a:rPr>
              <a:t>reward </a:t>
            </a:r>
            <a:r>
              <a:rPr lang="zh-TW" sz="2700" b="1" u="none" strike="noStrike">
                <a:solidFill>
                  <a:srgbClr val="071018"/>
                </a:solidFill>
                <a:effectLst/>
                <a:uFillTx/>
                <a:latin typeface="Microsoft JhengHei"/>
                <a:ea typeface="Microsoft JhengHei"/>
              </a:rPr>
              <a:t>的交易閉環。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"/>
          <p:cNvSpPr/>
          <p:nvPr/>
        </p:nvSpPr>
        <p:spPr>
          <a:xfrm>
            <a:off x="685800" y="2000160"/>
            <a:ext cx="3142800" cy="2952360"/>
          </a:xfrm>
          <a:prstGeom prst="rect">
            <a:avLst/>
          </a:prstGeom>
          <a:solidFill>
            <a:srgbClr val="FFFFFF"/>
          </a:solidFill>
          <a:ln w="9525">
            <a:solidFill>
              <a:srgbClr val="C4D1D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"/>
          <p:cNvSpPr/>
          <p:nvPr/>
        </p:nvSpPr>
        <p:spPr>
          <a:xfrm>
            <a:off x="933480" y="2266920"/>
            <a:ext cx="2095200" cy="2854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70" b="1" u="none" strike="noStrike">
                <a:solidFill>
                  <a:srgbClr val="123A56"/>
                </a:solidFill>
                <a:effectLst/>
                <a:uFillTx/>
                <a:latin typeface="Microsoft JhengHei"/>
                <a:ea typeface="Microsoft JhengHei"/>
              </a:rPr>
              <a:t>State </a:t>
            </a:r>
            <a:r>
              <a:rPr lang="zh-TW" sz="1870" b="1" u="none" strike="noStrike">
                <a:solidFill>
                  <a:srgbClr val="123A56"/>
                </a:solidFill>
                <a:effectLst/>
                <a:uFillTx/>
                <a:latin typeface="Microsoft JhengHei"/>
                <a:ea typeface="Microsoft JhengHei"/>
              </a:rPr>
              <a:t>狀態</a:t>
            </a:r>
            <a:endParaRPr lang="en-US" sz="18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"/>
          <p:cNvSpPr/>
          <p:nvPr/>
        </p:nvSpPr>
        <p:spPr>
          <a:xfrm>
            <a:off x="952560" y="2914560"/>
            <a:ext cx="75960" cy="75960"/>
          </a:xfrm>
          <a:prstGeom prst="rect">
            <a:avLst/>
          </a:prstGeom>
          <a:solidFill>
            <a:srgbClr val="356B85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"/>
          <p:cNvSpPr/>
          <p:nvPr/>
        </p:nvSpPr>
        <p:spPr>
          <a:xfrm>
            <a:off x="1123920" y="2838600"/>
            <a:ext cx="2209320" cy="5140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TW" sz="1350" b="0" u="none" strike="noStrike">
                <a:solidFill>
                  <a:srgbClr val="071018"/>
                </a:solidFill>
                <a:effectLst/>
                <a:uFillTx/>
                <a:latin typeface="Microsoft JhengHei"/>
                <a:ea typeface="Microsoft JhengHei"/>
              </a:rPr>
              <a:t>每檔股票的 </a:t>
            </a:r>
            <a:r>
              <a:rPr lang="en-US" sz="1350" b="0" u="none" strike="noStrike">
                <a:solidFill>
                  <a:srgbClr val="071018"/>
                </a:solidFill>
                <a:effectLst/>
                <a:uFillTx/>
                <a:latin typeface="Microsoft JhengHei"/>
                <a:ea typeface="Microsoft JhengHei"/>
              </a:rPr>
              <a:t>PD_Pos</a:t>
            </a:r>
            <a:r>
              <a:rPr lang="zh-TW" sz="1350" b="0" u="none" strike="noStrike">
                <a:solidFill>
                  <a:srgbClr val="071018"/>
                </a:solidFill>
                <a:effectLst/>
                <a:uFillTx/>
                <a:latin typeface="Microsoft JhengHei"/>
                <a:ea typeface="Microsoft JhengHei"/>
              </a:rPr>
              <a:t>、</a:t>
            </a:r>
            <a:r>
              <a:rPr lang="en-US" sz="1350" b="0" u="none" strike="noStrike">
                <a:solidFill>
                  <a:srgbClr val="071018"/>
                </a:solidFill>
                <a:effectLst/>
                <a:uFillTx/>
                <a:latin typeface="Microsoft JhengHei"/>
                <a:ea typeface="Microsoft JhengHei"/>
              </a:rPr>
              <a:t>OB_Dist</a:t>
            </a:r>
            <a:r>
              <a:rPr lang="zh-TW" sz="1350" b="0" u="none" strike="noStrike">
                <a:solidFill>
                  <a:srgbClr val="071018"/>
                </a:solidFill>
                <a:effectLst/>
                <a:uFillTx/>
                <a:latin typeface="Microsoft JhengHei"/>
                <a:ea typeface="Microsoft JhengHei"/>
              </a:rPr>
              <a:t>、</a:t>
            </a:r>
            <a:r>
              <a:rPr lang="en-US" sz="1350" b="0" u="none" strike="noStrike">
                <a:solidFill>
                  <a:srgbClr val="071018"/>
                </a:solidFill>
                <a:effectLst/>
                <a:uFillTx/>
                <a:latin typeface="Microsoft JhengHei"/>
                <a:ea typeface="Microsoft JhengHei"/>
              </a:rPr>
              <a:t>FVG_Signal</a:t>
            </a:r>
            <a:r>
              <a:rPr lang="zh-TW" sz="1350" b="0" u="none" strike="noStrike">
                <a:solidFill>
                  <a:srgbClr val="071018"/>
                </a:solidFill>
                <a:effectLst/>
                <a:uFillTx/>
                <a:latin typeface="Microsoft JhengHei"/>
                <a:ea typeface="Microsoft JhengHei"/>
              </a:rPr>
              <a:t>。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"/>
          <p:cNvSpPr/>
          <p:nvPr/>
        </p:nvSpPr>
        <p:spPr>
          <a:xfrm>
            <a:off x="952560" y="3714840"/>
            <a:ext cx="75960" cy="75960"/>
          </a:xfrm>
          <a:prstGeom prst="rect">
            <a:avLst/>
          </a:prstGeom>
          <a:solidFill>
            <a:srgbClr val="FF725F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"/>
          <p:cNvSpPr/>
          <p:nvPr/>
        </p:nvSpPr>
        <p:spPr>
          <a:xfrm>
            <a:off x="1123920" y="3638520"/>
            <a:ext cx="2209320" cy="5140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71018"/>
                </a:solidFill>
                <a:effectLst/>
                <a:uFillTx/>
                <a:latin typeface="Microsoft JhengHei"/>
                <a:ea typeface="Microsoft JhengHei"/>
              </a:rPr>
              <a:t>Pair </a:t>
            </a:r>
            <a:r>
              <a:rPr lang="zh-TW" sz="1350" b="0" u="none" strike="noStrike">
                <a:solidFill>
                  <a:srgbClr val="071018"/>
                </a:solidFill>
                <a:effectLst/>
                <a:uFillTx/>
                <a:latin typeface="Microsoft JhengHei"/>
                <a:ea typeface="Microsoft JhengHei"/>
              </a:rPr>
              <a:t>或 </a:t>
            </a:r>
            <a:r>
              <a:rPr lang="en-US" sz="1350" b="0" u="none" strike="noStrike">
                <a:solidFill>
                  <a:srgbClr val="071018"/>
                </a:solidFill>
                <a:effectLst/>
                <a:uFillTx/>
                <a:latin typeface="Microsoft JhengHei"/>
                <a:ea typeface="Microsoft JhengHei"/>
              </a:rPr>
              <a:t>Basket </a:t>
            </a:r>
            <a:r>
              <a:rPr lang="zh-TW" sz="1350" b="0" u="none" strike="noStrike">
                <a:solidFill>
                  <a:srgbClr val="071018"/>
                </a:solidFill>
                <a:effectLst/>
                <a:uFillTx/>
                <a:latin typeface="Microsoft JhengHei"/>
                <a:ea typeface="Microsoft JhengHei"/>
              </a:rPr>
              <a:t>的 </a:t>
            </a:r>
            <a:r>
              <a:rPr lang="en-US" sz="1350" b="0" u="none" strike="noStrike">
                <a:solidFill>
                  <a:srgbClr val="071018"/>
                </a:solidFill>
                <a:effectLst/>
                <a:uFillTx/>
                <a:latin typeface="Microsoft JhengHei"/>
                <a:ea typeface="Microsoft JhengHei"/>
              </a:rPr>
              <a:t>spread z-score</a:t>
            </a:r>
            <a:r>
              <a:rPr lang="zh-TW" sz="1350" b="0" u="none" strike="noStrike">
                <a:solidFill>
                  <a:srgbClr val="071018"/>
                </a:solidFill>
                <a:effectLst/>
                <a:uFillTx/>
                <a:latin typeface="Microsoft JhengHei"/>
                <a:ea typeface="Microsoft JhengHei"/>
              </a:rPr>
              <a:t>。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"/>
          <p:cNvSpPr/>
          <p:nvPr/>
        </p:nvSpPr>
        <p:spPr>
          <a:xfrm>
            <a:off x="952560" y="4514760"/>
            <a:ext cx="75960" cy="75960"/>
          </a:xfrm>
          <a:prstGeom prst="rect">
            <a:avLst/>
          </a:prstGeom>
          <a:solidFill>
            <a:srgbClr val="356B85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"/>
          <p:cNvSpPr/>
          <p:nvPr/>
        </p:nvSpPr>
        <p:spPr>
          <a:xfrm>
            <a:off x="1123920" y="4438800"/>
            <a:ext cx="2209320" cy="5140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TW" sz="1350" b="0" u="none" strike="noStrike">
                <a:solidFill>
                  <a:srgbClr val="071018"/>
                </a:solidFill>
                <a:effectLst/>
                <a:uFillTx/>
                <a:latin typeface="Microsoft JhengHei"/>
                <a:ea typeface="Microsoft JhengHei"/>
              </a:rPr>
              <a:t>目前持股權重與現金比例。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"/>
          <p:cNvSpPr/>
          <p:nvPr/>
        </p:nvSpPr>
        <p:spPr>
          <a:xfrm>
            <a:off x="4524480" y="2000160"/>
            <a:ext cx="3142800" cy="2952360"/>
          </a:xfrm>
          <a:prstGeom prst="rect">
            <a:avLst/>
          </a:prstGeom>
          <a:solidFill>
            <a:srgbClr val="EEF4F3"/>
          </a:solidFill>
          <a:ln w="9525">
            <a:solidFill>
              <a:srgbClr val="C4D1D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"/>
          <p:cNvSpPr/>
          <p:nvPr/>
        </p:nvSpPr>
        <p:spPr>
          <a:xfrm>
            <a:off x="4772160" y="2266920"/>
            <a:ext cx="2095200" cy="2854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70" b="1" u="none" strike="noStrike">
                <a:solidFill>
                  <a:srgbClr val="356B85"/>
                </a:solidFill>
                <a:effectLst/>
                <a:uFillTx/>
                <a:latin typeface="Microsoft JhengHei"/>
                <a:ea typeface="Microsoft JhengHei"/>
              </a:rPr>
              <a:t>Action </a:t>
            </a:r>
            <a:r>
              <a:rPr lang="zh-TW" sz="1870" b="1" u="none" strike="noStrike">
                <a:solidFill>
                  <a:srgbClr val="356B85"/>
                </a:solidFill>
                <a:effectLst/>
                <a:uFillTx/>
                <a:latin typeface="Microsoft JhengHei"/>
                <a:ea typeface="Microsoft JhengHei"/>
              </a:rPr>
              <a:t>動作</a:t>
            </a:r>
            <a:endParaRPr lang="en-US" sz="18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"/>
          <p:cNvSpPr/>
          <p:nvPr/>
        </p:nvSpPr>
        <p:spPr>
          <a:xfrm>
            <a:off x="4791240" y="2914560"/>
            <a:ext cx="75960" cy="75960"/>
          </a:xfrm>
          <a:prstGeom prst="rect">
            <a:avLst/>
          </a:prstGeom>
          <a:solidFill>
            <a:srgbClr val="356B85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"/>
          <p:cNvSpPr/>
          <p:nvPr/>
        </p:nvSpPr>
        <p:spPr>
          <a:xfrm>
            <a:off x="4962600" y="2838600"/>
            <a:ext cx="2209320" cy="5140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71018"/>
                </a:solidFill>
                <a:effectLst/>
                <a:uFillTx/>
                <a:latin typeface="Microsoft JhengHei"/>
                <a:ea typeface="Microsoft JhengHei"/>
              </a:rPr>
              <a:t>Pair</a:t>
            </a:r>
            <a:r>
              <a:rPr lang="zh-TW" sz="1350" b="0" u="none" strike="noStrike">
                <a:solidFill>
                  <a:srgbClr val="071018"/>
                </a:solidFill>
                <a:effectLst/>
                <a:uFillTx/>
                <a:latin typeface="Microsoft JhengHei"/>
                <a:ea typeface="Microsoft JhengHei"/>
              </a:rPr>
              <a:t>：</a:t>
            </a:r>
            <a:r>
              <a:rPr lang="en-US" sz="1350" b="0" u="none" strike="noStrike">
                <a:solidFill>
                  <a:srgbClr val="071018"/>
                </a:solidFill>
                <a:effectLst/>
                <a:uFillTx/>
                <a:latin typeface="Microsoft JhengHei"/>
                <a:ea typeface="Microsoft JhengHei"/>
              </a:rPr>
              <a:t>action &gt; 0 </a:t>
            </a:r>
            <a:r>
              <a:rPr lang="zh-TW" sz="1350" b="0" u="none" strike="noStrike">
                <a:solidFill>
                  <a:srgbClr val="071018"/>
                </a:solidFill>
                <a:effectLst/>
                <a:uFillTx/>
                <a:latin typeface="Microsoft JhengHei"/>
                <a:ea typeface="Microsoft JhengHei"/>
              </a:rPr>
              <a:t>偏向 </a:t>
            </a:r>
            <a:r>
              <a:rPr lang="en-US" sz="1350" b="0" u="none" strike="noStrike">
                <a:solidFill>
                  <a:srgbClr val="071018"/>
                </a:solidFill>
                <a:effectLst/>
                <a:uFillTx/>
                <a:latin typeface="Microsoft JhengHei"/>
                <a:ea typeface="Microsoft JhengHei"/>
              </a:rPr>
              <a:t>0050</a:t>
            </a:r>
            <a:r>
              <a:rPr lang="zh-TW" sz="1350" b="0" u="none" strike="noStrike">
                <a:solidFill>
                  <a:srgbClr val="071018"/>
                </a:solidFill>
                <a:effectLst/>
                <a:uFillTx/>
                <a:latin typeface="Microsoft JhengHei"/>
                <a:ea typeface="Microsoft JhengHei"/>
              </a:rPr>
              <a:t>；</a:t>
            </a:r>
            <a:r>
              <a:rPr lang="en-US" sz="1350" b="0" u="none" strike="noStrike">
                <a:solidFill>
                  <a:srgbClr val="071018"/>
                </a:solidFill>
                <a:effectLst/>
                <a:uFillTx/>
                <a:latin typeface="Microsoft JhengHei"/>
                <a:ea typeface="Microsoft JhengHei"/>
              </a:rPr>
              <a:t>action &lt; 0 </a:t>
            </a:r>
            <a:r>
              <a:rPr lang="zh-TW" sz="1350" b="0" u="none" strike="noStrike">
                <a:solidFill>
                  <a:srgbClr val="071018"/>
                </a:solidFill>
                <a:effectLst/>
                <a:uFillTx/>
                <a:latin typeface="Microsoft JhengHei"/>
                <a:ea typeface="Microsoft JhengHei"/>
              </a:rPr>
              <a:t>偏向 </a:t>
            </a:r>
            <a:r>
              <a:rPr lang="en-US" sz="1350" b="0" u="none" strike="noStrike">
                <a:solidFill>
                  <a:srgbClr val="071018"/>
                </a:solidFill>
                <a:effectLst/>
                <a:uFillTx/>
                <a:latin typeface="Microsoft JhengHei"/>
                <a:ea typeface="Microsoft JhengHei"/>
              </a:rPr>
              <a:t>2330</a:t>
            </a:r>
            <a:r>
              <a:rPr lang="zh-TW" sz="1350" b="0" u="none" strike="noStrike">
                <a:solidFill>
                  <a:srgbClr val="071018"/>
                </a:solidFill>
                <a:effectLst/>
                <a:uFillTx/>
                <a:latin typeface="Microsoft JhengHei"/>
                <a:ea typeface="Microsoft JhengHei"/>
              </a:rPr>
              <a:t>。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"/>
          <p:cNvSpPr/>
          <p:nvPr/>
        </p:nvSpPr>
        <p:spPr>
          <a:xfrm>
            <a:off x="4791240" y="3867120"/>
            <a:ext cx="75960" cy="75960"/>
          </a:xfrm>
          <a:prstGeom prst="rect">
            <a:avLst/>
          </a:prstGeom>
          <a:solidFill>
            <a:srgbClr val="FF725F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"/>
          <p:cNvSpPr/>
          <p:nvPr/>
        </p:nvSpPr>
        <p:spPr>
          <a:xfrm>
            <a:off x="4962600" y="3790800"/>
            <a:ext cx="2209320" cy="5140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71018"/>
                </a:solidFill>
                <a:effectLst/>
                <a:uFillTx/>
                <a:latin typeface="Microsoft JhengHei"/>
                <a:ea typeface="Microsoft JhengHei"/>
              </a:rPr>
              <a:t>Basket</a:t>
            </a:r>
            <a:r>
              <a:rPr lang="zh-TW" sz="1350" b="0" u="none" strike="noStrike">
                <a:solidFill>
                  <a:srgbClr val="071018"/>
                </a:solidFill>
                <a:effectLst/>
                <a:uFillTx/>
                <a:latin typeface="Microsoft JhengHei"/>
                <a:ea typeface="Microsoft JhengHei"/>
              </a:rPr>
              <a:t>：將正 </a:t>
            </a:r>
            <a:r>
              <a:rPr lang="en-US" sz="1350" b="0" u="none" strike="noStrike">
                <a:solidFill>
                  <a:srgbClr val="071018"/>
                </a:solidFill>
                <a:effectLst/>
                <a:uFillTx/>
                <a:latin typeface="Microsoft JhengHei"/>
                <a:ea typeface="Microsoft JhengHei"/>
              </a:rPr>
              <a:t>action </a:t>
            </a:r>
            <a:r>
              <a:rPr lang="zh-TW" sz="1350" b="0" u="none" strike="noStrike">
                <a:solidFill>
                  <a:srgbClr val="071018"/>
                </a:solidFill>
                <a:effectLst/>
                <a:uFillTx/>
                <a:latin typeface="Microsoft JhengHei"/>
                <a:ea typeface="Microsoft JhengHei"/>
              </a:rPr>
              <a:t>正規化成三檔股票配置比例。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"/>
          <p:cNvSpPr/>
          <p:nvPr/>
        </p:nvSpPr>
        <p:spPr>
          <a:xfrm>
            <a:off x="4791240" y="4667400"/>
            <a:ext cx="75960" cy="75960"/>
          </a:xfrm>
          <a:prstGeom prst="rect">
            <a:avLst/>
          </a:prstGeom>
          <a:solidFill>
            <a:srgbClr val="356B85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"/>
          <p:cNvSpPr/>
          <p:nvPr/>
        </p:nvSpPr>
        <p:spPr>
          <a:xfrm>
            <a:off x="4962600" y="4591080"/>
            <a:ext cx="2209320" cy="5140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TW" sz="1350" b="0" u="none" strike="noStrike">
                <a:solidFill>
                  <a:srgbClr val="071018"/>
                </a:solidFill>
                <a:effectLst/>
                <a:uFillTx/>
                <a:latin typeface="Microsoft JhengHei"/>
                <a:ea typeface="Microsoft JhengHei"/>
              </a:rPr>
              <a:t>最大投入比例 </a:t>
            </a:r>
            <a:r>
              <a:rPr lang="en-US" sz="1350" b="0" u="none" strike="noStrike">
                <a:solidFill>
                  <a:srgbClr val="071018"/>
                </a:solidFill>
                <a:effectLst/>
                <a:uFillTx/>
                <a:latin typeface="Microsoft JhengHei"/>
                <a:ea typeface="Microsoft JhengHei"/>
              </a:rPr>
              <a:t>max_position </a:t>
            </a:r>
            <a:r>
              <a:rPr lang="zh-TW" sz="1350" b="0" u="none" strike="noStrike">
                <a:solidFill>
                  <a:srgbClr val="071018"/>
                </a:solidFill>
                <a:effectLst/>
                <a:uFillTx/>
                <a:latin typeface="Microsoft JhengHei"/>
                <a:ea typeface="Microsoft JhengHei"/>
              </a:rPr>
              <a:t>預設 </a:t>
            </a:r>
            <a:r>
              <a:rPr lang="en-US" sz="1350" b="0" u="none" strike="noStrike">
                <a:solidFill>
                  <a:srgbClr val="071018"/>
                </a:solidFill>
                <a:effectLst/>
                <a:uFillTx/>
                <a:latin typeface="Microsoft JhengHei"/>
                <a:ea typeface="Microsoft JhengHei"/>
              </a:rPr>
              <a:t>95%</a:t>
            </a:r>
            <a:r>
              <a:rPr lang="zh-TW" sz="1350" b="0" u="none" strike="noStrike">
                <a:solidFill>
                  <a:srgbClr val="071018"/>
                </a:solidFill>
                <a:effectLst/>
                <a:uFillTx/>
                <a:latin typeface="Microsoft JhengHei"/>
                <a:ea typeface="Microsoft JhengHei"/>
              </a:rPr>
              <a:t>。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"/>
          <p:cNvSpPr/>
          <p:nvPr/>
        </p:nvSpPr>
        <p:spPr>
          <a:xfrm>
            <a:off x="8362800" y="2000160"/>
            <a:ext cx="3142800" cy="2952360"/>
          </a:xfrm>
          <a:prstGeom prst="rect">
            <a:avLst/>
          </a:prstGeom>
          <a:solidFill>
            <a:srgbClr val="FFFFFF"/>
          </a:solidFill>
          <a:ln w="9525">
            <a:solidFill>
              <a:srgbClr val="C4D1D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"/>
          <p:cNvSpPr/>
          <p:nvPr/>
        </p:nvSpPr>
        <p:spPr>
          <a:xfrm>
            <a:off x="8610480" y="2266920"/>
            <a:ext cx="2095200" cy="2854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70" b="1" u="none" strike="noStrike">
                <a:solidFill>
                  <a:srgbClr val="123A56"/>
                </a:solidFill>
                <a:effectLst/>
                <a:uFillTx/>
                <a:latin typeface="Microsoft JhengHei"/>
                <a:ea typeface="Microsoft JhengHei"/>
              </a:rPr>
              <a:t>Reward </a:t>
            </a:r>
            <a:r>
              <a:rPr lang="zh-TW" sz="1870" b="1" u="none" strike="noStrike">
                <a:solidFill>
                  <a:srgbClr val="123A56"/>
                </a:solidFill>
                <a:effectLst/>
                <a:uFillTx/>
                <a:latin typeface="Microsoft JhengHei"/>
                <a:ea typeface="Microsoft JhengHei"/>
              </a:rPr>
              <a:t>獎勵</a:t>
            </a:r>
            <a:endParaRPr lang="en-US" sz="18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"/>
          <p:cNvSpPr/>
          <p:nvPr/>
        </p:nvSpPr>
        <p:spPr>
          <a:xfrm>
            <a:off x="8629560" y="2914560"/>
            <a:ext cx="75960" cy="75960"/>
          </a:xfrm>
          <a:prstGeom prst="rect">
            <a:avLst/>
          </a:prstGeom>
          <a:solidFill>
            <a:srgbClr val="356B85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"/>
          <p:cNvSpPr/>
          <p:nvPr/>
        </p:nvSpPr>
        <p:spPr>
          <a:xfrm>
            <a:off x="8801280" y="2838600"/>
            <a:ext cx="2209320" cy="5140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TW" sz="1350" b="0" u="none" strike="noStrike">
                <a:solidFill>
                  <a:srgbClr val="071018"/>
                </a:solidFill>
                <a:effectLst/>
                <a:uFillTx/>
                <a:latin typeface="Microsoft JhengHei"/>
                <a:ea typeface="Microsoft JhengHei"/>
              </a:rPr>
              <a:t>鼓勵淨值成長與較佳風險調整報酬。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"/>
          <p:cNvSpPr/>
          <p:nvPr/>
        </p:nvSpPr>
        <p:spPr>
          <a:xfrm>
            <a:off x="8629560" y="3714840"/>
            <a:ext cx="75960" cy="75960"/>
          </a:xfrm>
          <a:prstGeom prst="rect">
            <a:avLst/>
          </a:prstGeom>
          <a:solidFill>
            <a:srgbClr val="FF725F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"/>
          <p:cNvSpPr/>
          <p:nvPr/>
        </p:nvSpPr>
        <p:spPr>
          <a:xfrm>
            <a:off x="8801280" y="3638520"/>
            <a:ext cx="2209320" cy="5140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TW" sz="1350" b="0" u="none" strike="noStrike">
                <a:solidFill>
                  <a:srgbClr val="071018"/>
                </a:solidFill>
                <a:effectLst/>
                <a:uFillTx/>
                <a:latin typeface="Microsoft JhengHei"/>
                <a:ea typeface="Microsoft JhengHei"/>
              </a:rPr>
              <a:t>扣除交易成本、證交稅與手續費。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"/>
          <p:cNvSpPr/>
          <p:nvPr/>
        </p:nvSpPr>
        <p:spPr>
          <a:xfrm>
            <a:off x="8629560" y="4514760"/>
            <a:ext cx="75960" cy="75960"/>
          </a:xfrm>
          <a:prstGeom prst="rect">
            <a:avLst/>
          </a:prstGeom>
          <a:solidFill>
            <a:srgbClr val="356B85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"/>
          <p:cNvSpPr/>
          <p:nvPr/>
        </p:nvSpPr>
        <p:spPr>
          <a:xfrm>
            <a:off x="8801280" y="4438800"/>
            <a:ext cx="2209320" cy="5140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TW" sz="1350" b="0" u="none" strike="noStrike">
                <a:solidFill>
                  <a:srgbClr val="071018"/>
                </a:solidFill>
                <a:effectLst/>
                <a:uFillTx/>
                <a:latin typeface="Microsoft JhengHei"/>
                <a:ea typeface="Microsoft JhengHei"/>
              </a:rPr>
              <a:t>對新增最大回撤加重懲罰。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"/>
          <p:cNvSpPr/>
          <p:nvPr/>
        </p:nvSpPr>
        <p:spPr>
          <a:xfrm>
            <a:off x="1666800" y="5572080"/>
            <a:ext cx="8857800" cy="2664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1" u="none" strike="noStrike">
                <a:solidFill>
                  <a:srgbClr val="FF725F"/>
                </a:solidFill>
                <a:effectLst/>
                <a:uFillTx/>
                <a:latin typeface="Cascadia Mono"/>
                <a:ea typeface="Cascadia Mono"/>
              </a:rPr>
              <a:t>Reward = PnL * Sharpe_Adjustment - Transaction_Cost - 2.0 * Drawdown_Penalty</a:t>
            </a:r>
            <a:endParaRPr lang="en-US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"/>
          <p:cNvSpPr/>
          <p:nvPr/>
        </p:nvSpPr>
        <p:spPr>
          <a:xfrm>
            <a:off x="685800" y="6438960"/>
            <a:ext cx="10820160" cy="9000"/>
          </a:xfrm>
          <a:prstGeom prst="rect">
            <a:avLst/>
          </a:prstGeom>
          <a:solidFill>
            <a:srgbClr val="C4D1D5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"/>
          <p:cNvSpPr/>
          <p:nvPr/>
        </p:nvSpPr>
        <p:spPr>
          <a:xfrm>
            <a:off x="685800" y="6534000"/>
            <a:ext cx="838152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4B5C68"/>
                </a:solidFill>
                <a:effectLst/>
                <a:uFillTx/>
                <a:latin typeface="Microsoft JhengHei"/>
                <a:ea typeface="Microsoft JhengHei"/>
              </a:rPr>
              <a:t>Source: TWTradingEnv.step(), TWTradingEnv._target_weights()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"/>
          <p:cNvSpPr/>
          <p:nvPr/>
        </p:nvSpPr>
        <p:spPr>
          <a:xfrm>
            <a:off x="11049120" y="6515280"/>
            <a:ext cx="456840" cy="1900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123A56"/>
                </a:solidFill>
                <a:effectLst/>
                <a:uFillTx/>
                <a:latin typeface="Cascadia Mono"/>
                <a:ea typeface="Cascadia Mono"/>
              </a:rPr>
              <a:t>04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7F8F4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kicker-05-marker"/>
          <p:cNvSpPr/>
          <p:nvPr/>
        </p:nvSpPr>
        <p:spPr>
          <a:xfrm>
            <a:off x="685800" y="495360"/>
            <a:ext cx="323640" cy="56880"/>
          </a:xfrm>
          <a:prstGeom prst="rect">
            <a:avLst/>
          </a:prstGeom>
          <a:solidFill>
            <a:srgbClr val="FF725F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12240" rIns="90000" bIns="122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kicker-05-label"/>
          <p:cNvSpPr/>
          <p:nvPr/>
        </p:nvSpPr>
        <p:spPr>
          <a:xfrm>
            <a:off x="1123920" y="419040"/>
            <a:ext cx="4952520" cy="2282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1908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1" u="none" strike="noStrike">
                <a:solidFill>
                  <a:srgbClr val="356B85"/>
                </a:solidFill>
                <a:effectLst/>
                <a:uFillTx/>
                <a:latin typeface="Microsoft JhengHei"/>
                <a:ea typeface="Microsoft JhengHei"/>
              </a:rPr>
              <a:t>PROPOSED SCHEME / DETAIL DESIGN</a:t>
            </a:r>
            <a:endParaRPr lang="en-US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"/>
          <p:cNvSpPr/>
          <p:nvPr/>
        </p:nvSpPr>
        <p:spPr>
          <a:xfrm>
            <a:off x="685800" y="800280"/>
            <a:ext cx="10096200" cy="8949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TW" sz="2700" b="1" u="none" strike="noStrike">
                <a:solidFill>
                  <a:srgbClr val="071018"/>
                </a:solidFill>
                <a:effectLst/>
                <a:uFillTx/>
                <a:latin typeface="Microsoft JhengHei"/>
                <a:ea typeface="Microsoft JhengHei"/>
              </a:rPr>
              <a:t>程式中的特殊設計：避免資料洩漏，並模擬台股交易限制。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"/>
          <p:cNvSpPr/>
          <p:nvPr/>
        </p:nvSpPr>
        <p:spPr>
          <a:xfrm>
            <a:off x="685800" y="1905120"/>
            <a:ext cx="5314680" cy="1047240"/>
          </a:xfrm>
          <a:prstGeom prst="rect">
            <a:avLst/>
          </a:prstGeom>
          <a:solidFill>
            <a:srgbClr val="FFFFFF"/>
          </a:solidFill>
          <a:ln w="9525">
            <a:solidFill>
              <a:srgbClr val="C4D1D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"/>
          <p:cNvSpPr/>
          <p:nvPr/>
        </p:nvSpPr>
        <p:spPr>
          <a:xfrm>
            <a:off x="895320" y="2076480"/>
            <a:ext cx="1809360" cy="2282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TW" sz="1430" b="1" u="none" strike="noStrike">
                <a:solidFill>
                  <a:srgbClr val="123A56"/>
                </a:solidFill>
                <a:effectLst/>
                <a:uFillTx/>
                <a:latin typeface="Microsoft JhengHei"/>
                <a:ea typeface="Microsoft JhengHei"/>
              </a:rPr>
              <a:t>避免同棒資料洩漏</a:t>
            </a:r>
            <a:endParaRPr lang="en-US" sz="14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"/>
          <p:cNvSpPr/>
          <p:nvPr/>
        </p:nvSpPr>
        <p:spPr>
          <a:xfrm>
            <a:off x="2781360" y="2095560"/>
            <a:ext cx="2904840" cy="1900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FF725F"/>
                </a:solidFill>
                <a:effectLst/>
                <a:uFillTx/>
                <a:latin typeface="Cascadia Mono"/>
                <a:ea typeface="Cascadia Mono"/>
              </a:rPr>
              <a:t>feature_cols shift(1)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"/>
          <p:cNvSpPr/>
          <p:nvPr/>
        </p:nvSpPr>
        <p:spPr>
          <a:xfrm>
            <a:off x="895320" y="2419200"/>
            <a:ext cx="4762080" cy="3805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TW" sz="1050" b="0" u="none" strike="noStrike">
                <a:solidFill>
                  <a:srgbClr val="4B5C68"/>
                </a:solidFill>
                <a:effectLst/>
                <a:uFillTx/>
                <a:latin typeface="Microsoft JhengHei"/>
                <a:ea typeface="Microsoft JhengHei"/>
              </a:rPr>
              <a:t>模型在 </a:t>
            </a:r>
            <a:r>
              <a:rPr lang="en-US" sz="1050" b="0" u="none" strike="noStrike">
                <a:solidFill>
                  <a:srgbClr val="4B5C68"/>
                </a:solidFill>
                <a:effectLst/>
                <a:uFillTx/>
                <a:latin typeface="Microsoft JhengHei"/>
                <a:ea typeface="Microsoft JhengHei"/>
              </a:rPr>
              <a:t>t </a:t>
            </a:r>
            <a:r>
              <a:rPr lang="zh-TW" sz="1050" b="0" u="none" strike="noStrike">
                <a:solidFill>
                  <a:srgbClr val="4B5C68"/>
                </a:solidFill>
                <a:effectLst/>
                <a:uFillTx/>
                <a:latin typeface="Microsoft JhengHei"/>
                <a:ea typeface="Microsoft JhengHei"/>
              </a:rPr>
              <a:t>日做決策時，只能使用 </a:t>
            </a:r>
            <a:r>
              <a:rPr lang="en-US" sz="1050" b="0" u="none" strike="noStrike">
                <a:solidFill>
                  <a:srgbClr val="4B5C68"/>
                </a:solidFill>
                <a:effectLst/>
                <a:uFillTx/>
                <a:latin typeface="Microsoft JhengHei"/>
                <a:ea typeface="Microsoft JhengHei"/>
              </a:rPr>
              <a:t>t-1 </a:t>
            </a:r>
            <a:r>
              <a:rPr lang="zh-TW" sz="1050" b="0" u="none" strike="noStrike">
                <a:solidFill>
                  <a:srgbClr val="4B5C68"/>
                </a:solidFill>
                <a:effectLst/>
                <a:uFillTx/>
                <a:latin typeface="Microsoft JhengHei"/>
                <a:ea typeface="Microsoft JhengHei"/>
              </a:rPr>
              <a:t>前已知的 </a:t>
            </a:r>
            <a:r>
              <a:rPr lang="en-US" sz="1050" b="0" u="none" strike="noStrike">
                <a:solidFill>
                  <a:srgbClr val="4B5C68"/>
                </a:solidFill>
                <a:effectLst/>
                <a:uFillTx/>
                <a:latin typeface="Microsoft JhengHei"/>
                <a:ea typeface="Microsoft JhengHei"/>
              </a:rPr>
              <a:t>SMC </a:t>
            </a:r>
            <a:r>
              <a:rPr lang="zh-TW" sz="1050" b="0" u="none" strike="noStrike">
                <a:solidFill>
                  <a:srgbClr val="4B5C68"/>
                </a:solidFill>
                <a:effectLst/>
                <a:uFillTx/>
                <a:latin typeface="Microsoft JhengHei"/>
                <a:ea typeface="Microsoft JhengHei"/>
              </a:rPr>
              <a:t>與 </a:t>
            </a:r>
            <a:r>
              <a:rPr lang="en-US" sz="1050" b="0" u="none" strike="noStrike">
                <a:solidFill>
                  <a:srgbClr val="4B5C68"/>
                </a:solidFill>
                <a:effectLst/>
                <a:uFillTx/>
                <a:latin typeface="Microsoft JhengHei"/>
                <a:ea typeface="Microsoft JhengHei"/>
              </a:rPr>
              <a:t>z-score </a:t>
            </a:r>
            <a:r>
              <a:rPr lang="zh-TW" sz="1050" b="0" u="none" strike="noStrike">
                <a:solidFill>
                  <a:srgbClr val="4B5C68"/>
                </a:solidFill>
                <a:effectLst/>
                <a:uFillTx/>
                <a:latin typeface="Microsoft JhengHei"/>
                <a:ea typeface="Microsoft JhengHei"/>
              </a:rPr>
              <a:t>特徵。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"/>
          <p:cNvSpPr/>
          <p:nvPr/>
        </p:nvSpPr>
        <p:spPr>
          <a:xfrm>
            <a:off x="6191280" y="1905120"/>
            <a:ext cx="5314680" cy="1047240"/>
          </a:xfrm>
          <a:prstGeom prst="rect">
            <a:avLst/>
          </a:prstGeom>
          <a:solidFill>
            <a:srgbClr val="FFFFFF"/>
          </a:solidFill>
          <a:ln w="9525">
            <a:solidFill>
              <a:srgbClr val="C4D1D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"/>
          <p:cNvSpPr/>
          <p:nvPr/>
        </p:nvSpPr>
        <p:spPr>
          <a:xfrm>
            <a:off x="6400800" y="2076480"/>
            <a:ext cx="1809360" cy="2282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TW" sz="1430" b="1" u="none" strike="noStrike">
                <a:solidFill>
                  <a:srgbClr val="123A56"/>
                </a:solidFill>
                <a:effectLst/>
                <a:uFillTx/>
                <a:latin typeface="Microsoft JhengHei"/>
                <a:ea typeface="Microsoft JhengHei"/>
              </a:rPr>
              <a:t>台股交易成本</a:t>
            </a:r>
            <a:endParaRPr lang="en-US" sz="14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"/>
          <p:cNvSpPr/>
          <p:nvPr/>
        </p:nvSpPr>
        <p:spPr>
          <a:xfrm>
            <a:off x="8286840" y="2095560"/>
            <a:ext cx="2904840" cy="1900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FF725F"/>
                </a:solidFill>
                <a:effectLst/>
                <a:uFillTx/>
                <a:latin typeface="Cascadia Mono"/>
                <a:ea typeface="Cascadia Mono"/>
              </a:rPr>
              <a:t>brokerage + sell tax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"/>
          <p:cNvSpPr/>
          <p:nvPr/>
        </p:nvSpPr>
        <p:spPr>
          <a:xfrm>
            <a:off x="6400800" y="2419200"/>
            <a:ext cx="4762080" cy="3805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TW" sz="1050" b="0" u="none" strike="noStrike">
                <a:solidFill>
                  <a:srgbClr val="4B5C68"/>
                </a:solidFill>
                <a:effectLst/>
                <a:uFillTx/>
                <a:latin typeface="Microsoft JhengHei"/>
                <a:ea typeface="Microsoft JhengHei"/>
              </a:rPr>
              <a:t>買賣手續費 </a:t>
            </a:r>
            <a:r>
              <a:rPr lang="en-US" sz="1050" b="0" u="none" strike="noStrike">
                <a:solidFill>
                  <a:srgbClr val="4B5C68"/>
                </a:solidFill>
                <a:effectLst/>
                <a:uFillTx/>
                <a:latin typeface="Microsoft JhengHei"/>
                <a:ea typeface="Microsoft JhengHei"/>
              </a:rPr>
              <a:t>0.1425% * 0.6</a:t>
            </a:r>
            <a:r>
              <a:rPr lang="zh-TW" sz="1050" b="0" u="none" strike="noStrike">
                <a:solidFill>
                  <a:srgbClr val="4B5C68"/>
                </a:solidFill>
                <a:effectLst/>
                <a:uFillTx/>
                <a:latin typeface="Microsoft JhengHei"/>
                <a:ea typeface="Microsoft JhengHei"/>
              </a:rPr>
              <a:t>；</a:t>
            </a:r>
            <a:r>
              <a:rPr lang="en-US" sz="1050" b="0" u="none" strike="noStrike">
                <a:solidFill>
                  <a:srgbClr val="4B5C68"/>
                </a:solidFill>
                <a:effectLst/>
                <a:uFillTx/>
                <a:latin typeface="Microsoft JhengHei"/>
                <a:ea typeface="Microsoft JhengHei"/>
              </a:rPr>
              <a:t>0050 </a:t>
            </a:r>
            <a:r>
              <a:rPr lang="zh-TW" sz="1050" b="0" u="none" strike="noStrike">
                <a:solidFill>
                  <a:srgbClr val="4B5C68"/>
                </a:solidFill>
                <a:effectLst/>
                <a:uFillTx/>
                <a:latin typeface="Microsoft JhengHei"/>
                <a:ea typeface="Microsoft JhengHei"/>
              </a:rPr>
              <a:t>賣出稅 </a:t>
            </a:r>
            <a:r>
              <a:rPr lang="en-US" sz="1050" b="0" u="none" strike="noStrike">
                <a:solidFill>
                  <a:srgbClr val="4B5C68"/>
                </a:solidFill>
                <a:effectLst/>
                <a:uFillTx/>
                <a:latin typeface="Microsoft JhengHei"/>
                <a:ea typeface="Microsoft JhengHei"/>
              </a:rPr>
              <a:t>0.1%</a:t>
            </a:r>
            <a:r>
              <a:rPr lang="zh-TW" sz="1050" b="0" u="none" strike="noStrike">
                <a:solidFill>
                  <a:srgbClr val="4B5C68"/>
                </a:solidFill>
                <a:effectLst/>
                <a:uFillTx/>
                <a:latin typeface="Microsoft JhengHei"/>
                <a:ea typeface="Microsoft JhengHei"/>
              </a:rPr>
              <a:t>，股票賣出稅 </a:t>
            </a:r>
            <a:r>
              <a:rPr lang="en-US" sz="1050" b="0" u="none" strike="noStrike">
                <a:solidFill>
                  <a:srgbClr val="4B5C68"/>
                </a:solidFill>
                <a:effectLst/>
                <a:uFillTx/>
                <a:latin typeface="Microsoft JhengHei"/>
                <a:ea typeface="Microsoft JhengHei"/>
              </a:rPr>
              <a:t>0.3%</a:t>
            </a:r>
            <a:r>
              <a:rPr lang="zh-TW" sz="1050" b="0" u="none" strike="noStrike">
                <a:solidFill>
                  <a:srgbClr val="4B5C68"/>
                </a:solidFill>
                <a:effectLst/>
                <a:uFillTx/>
                <a:latin typeface="Microsoft JhengHei"/>
                <a:ea typeface="Microsoft JhengHei"/>
              </a:rPr>
              <a:t>。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"/>
          <p:cNvSpPr/>
          <p:nvPr/>
        </p:nvSpPr>
        <p:spPr>
          <a:xfrm>
            <a:off x="685800" y="3191040"/>
            <a:ext cx="5314680" cy="1047240"/>
          </a:xfrm>
          <a:prstGeom prst="rect">
            <a:avLst/>
          </a:prstGeom>
          <a:solidFill>
            <a:srgbClr val="EEF4F3"/>
          </a:solidFill>
          <a:ln w="9525">
            <a:solidFill>
              <a:srgbClr val="C4D1D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"/>
          <p:cNvSpPr/>
          <p:nvPr/>
        </p:nvSpPr>
        <p:spPr>
          <a:xfrm>
            <a:off x="895320" y="3362400"/>
            <a:ext cx="1809360" cy="2282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TW" sz="1430" b="1" u="none" strike="noStrike">
                <a:solidFill>
                  <a:srgbClr val="123A56"/>
                </a:solidFill>
                <a:effectLst/>
                <a:uFillTx/>
                <a:latin typeface="Microsoft JhengHei"/>
                <a:ea typeface="Microsoft JhengHei"/>
              </a:rPr>
              <a:t>漲停限制</a:t>
            </a:r>
            <a:endParaRPr lang="en-US" sz="14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"/>
          <p:cNvSpPr/>
          <p:nvPr/>
        </p:nvSpPr>
        <p:spPr>
          <a:xfrm>
            <a:off x="2781360" y="3381480"/>
            <a:ext cx="2904840" cy="1900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FF725F"/>
                </a:solidFill>
                <a:effectLst/>
                <a:uFillTx/>
                <a:latin typeface="Cascadia Mono"/>
                <a:ea typeface="Cascadia Mono"/>
              </a:rPr>
              <a:t>price &gt;= prev_close * 1.10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"/>
          <p:cNvSpPr/>
          <p:nvPr/>
        </p:nvSpPr>
        <p:spPr>
          <a:xfrm>
            <a:off x="895320" y="3705120"/>
            <a:ext cx="4762080" cy="3805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TW" sz="1050" b="0" u="none" strike="noStrike">
                <a:solidFill>
                  <a:srgbClr val="4B5C68"/>
                </a:solidFill>
                <a:effectLst/>
                <a:uFillTx/>
                <a:latin typeface="Microsoft JhengHei"/>
                <a:ea typeface="Microsoft JhengHei"/>
              </a:rPr>
              <a:t>若價格達漲停，該筆再平衡委託會被跳過，並記錄 </a:t>
            </a:r>
            <a:r>
              <a:rPr lang="en-US" sz="1050" b="0" u="none" strike="noStrike">
                <a:solidFill>
                  <a:srgbClr val="4B5C68"/>
                </a:solidFill>
                <a:effectLst/>
                <a:uFillTx/>
                <a:latin typeface="Microsoft JhengHei"/>
                <a:ea typeface="Microsoft JhengHei"/>
              </a:rPr>
              <a:t>failed_orders</a:t>
            </a:r>
            <a:r>
              <a:rPr lang="zh-TW" sz="1050" b="0" u="none" strike="noStrike">
                <a:solidFill>
                  <a:srgbClr val="4B5C68"/>
                </a:solidFill>
                <a:effectLst/>
                <a:uFillTx/>
                <a:latin typeface="Microsoft JhengHei"/>
                <a:ea typeface="Microsoft JhengHei"/>
              </a:rPr>
              <a:t>。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"/>
          <p:cNvSpPr/>
          <p:nvPr/>
        </p:nvSpPr>
        <p:spPr>
          <a:xfrm>
            <a:off x="6191280" y="3191040"/>
            <a:ext cx="5314680" cy="1047240"/>
          </a:xfrm>
          <a:prstGeom prst="rect">
            <a:avLst/>
          </a:prstGeom>
          <a:solidFill>
            <a:srgbClr val="EEF4F3"/>
          </a:solidFill>
          <a:ln w="9525">
            <a:solidFill>
              <a:srgbClr val="C4D1D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"/>
          <p:cNvSpPr/>
          <p:nvPr/>
        </p:nvSpPr>
        <p:spPr>
          <a:xfrm>
            <a:off x="6400800" y="3362400"/>
            <a:ext cx="1809360" cy="2282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TW" sz="1430" b="1" u="none" strike="noStrike">
                <a:solidFill>
                  <a:srgbClr val="123A56"/>
                </a:solidFill>
                <a:effectLst/>
                <a:uFillTx/>
                <a:latin typeface="Microsoft JhengHei"/>
                <a:ea typeface="Microsoft JhengHei"/>
              </a:rPr>
              <a:t>部位轉換</a:t>
            </a:r>
            <a:endParaRPr lang="en-US" sz="14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"/>
          <p:cNvSpPr/>
          <p:nvPr/>
        </p:nvSpPr>
        <p:spPr>
          <a:xfrm>
            <a:off x="8286840" y="3381480"/>
            <a:ext cx="2904840" cy="1900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FF725F"/>
                </a:solidFill>
                <a:effectLst/>
                <a:uFillTx/>
                <a:latin typeface="Cascadia Mono"/>
                <a:ea typeface="Cascadia Mono"/>
              </a:rPr>
              <a:t>action -&gt; target weights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"/>
          <p:cNvSpPr/>
          <p:nvPr/>
        </p:nvSpPr>
        <p:spPr>
          <a:xfrm>
            <a:off x="6400800" y="3705120"/>
            <a:ext cx="4762080" cy="3805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B5C68"/>
                </a:solidFill>
                <a:effectLst/>
                <a:uFillTx/>
                <a:latin typeface="Microsoft JhengHei"/>
                <a:ea typeface="Microsoft JhengHei"/>
              </a:rPr>
              <a:t>PPO </a:t>
            </a:r>
            <a:r>
              <a:rPr lang="zh-TW" sz="1050" b="0" u="none" strike="noStrike">
                <a:solidFill>
                  <a:srgbClr val="4B5C68"/>
                </a:solidFill>
                <a:effectLst/>
                <a:uFillTx/>
                <a:latin typeface="Microsoft JhengHei"/>
                <a:ea typeface="Microsoft JhengHei"/>
              </a:rPr>
              <a:t>不直接買賣股數，而是先決定目標資金權重，再由環境執行再平衡。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"/>
          <p:cNvSpPr/>
          <p:nvPr/>
        </p:nvSpPr>
        <p:spPr>
          <a:xfrm>
            <a:off x="685800" y="4476600"/>
            <a:ext cx="5314680" cy="1047240"/>
          </a:xfrm>
          <a:prstGeom prst="rect">
            <a:avLst/>
          </a:prstGeom>
          <a:solidFill>
            <a:srgbClr val="FFFFFF"/>
          </a:solidFill>
          <a:ln w="9525">
            <a:solidFill>
              <a:srgbClr val="C4D1D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"/>
          <p:cNvSpPr/>
          <p:nvPr/>
        </p:nvSpPr>
        <p:spPr>
          <a:xfrm>
            <a:off x="895320" y="4648320"/>
            <a:ext cx="1809360" cy="2282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TW" sz="1430" b="1" u="none" strike="noStrike">
                <a:solidFill>
                  <a:srgbClr val="123A56"/>
                </a:solidFill>
                <a:effectLst/>
                <a:uFillTx/>
                <a:latin typeface="Microsoft JhengHei"/>
                <a:ea typeface="Microsoft JhengHei"/>
              </a:rPr>
              <a:t>風險導向 </a:t>
            </a:r>
            <a:r>
              <a:rPr lang="en-US" sz="1430" b="1" u="none" strike="noStrike">
                <a:solidFill>
                  <a:srgbClr val="123A56"/>
                </a:solidFill>
                <a:effectLst/>
                <a:uFillTx/>
                <a:latin typeface="Microsoft JhengHei"/>
                <a:ea typeface="Microsoft JhengHei"/>
              </a:rPr>
              <a:t>reward</a:t>
            </a:r>
            <a:endParaRPr lang="en-US" sz="14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"/>
          <p:cNvSpPr/>
          <p:nvPr/>
        </p:nvSpPr>
        <p:spPr>
          <a:xfrm>
            <a:off x="2781360" y="4667400"/>
            <a:ext cx="2904840" cy="1900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FF725F"/>
                </a:solidFill>
                <a:effectLst/>
                <a:uFillTx/>
                <a:latin typeface="Cascadia Mono"/>
                <a:ea typeface="Cascadia Mono"/>
              </a:rPr>
              <a:t>PnL / cost / drawdown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"/>
          <p:cNvSpPr/>
          <p:nvPr/>
        </p:nvSpPr>
        <p:spPr>
          <a:xfrm>
            <a:off x="895320" y="4991040"/>
            <a:ext cx="4762080" cy="3805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TW" sz="1050" b="0" u="none" strike="noStrike">
                <a:solidFill>
                  <a:srgbClr val="4B5C68"/>
                </a:solidFill>
                <a:effectLst/>
                <a:uFillTx/>
                <a:latin typeface="Microsoft JhengHei"/>
                <a:ea typeface="Microsoft JhengHei"/>
              </a:rPr>
              <a:t>不只追求賺錢，也把交易成本與回撤納入訓練目標。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"/>
          <p:cNvSpPr/>
          <p:nvPr/>
        </p:nvSpPr>
        <p:spPr>
          <a:xfrm>
            <a:off x="6191280" y="4476600"/>
            <a:ext cx="5314680" cy="1047240"/>
          </a:xfrm>
          <a:prstGeom prst="rect">
            <a:avLst/>
          </a:prstGeom>
          <a:solidFill>
            <a:srgbClr val="FFFFFF"/>
          </a:solidFill>
          <a:ln w="9525">
            <a:solidFill>
              <a:srgbClr val="C4D1D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"/>
          <p:cNvSpPr/>
          <p:nvPr/>
        </p:nvSpPr>
        <p:spPr>
          <a:xfrm>
            <a:off x="6400800" y="4648320"/>
            <a:ext cx="1809360" cy="2282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TW" sz="1430" b="1" u="none" strike="noStrike">
                <a:solidFill>
                  <a:srgbClr val="123A56"/>
                </a:solidFill>
                <a:effectLst/>
                <a:uFillTx/>
                <a:latin typeface="Microsoft JhengHei"/>
                <a:ea typeface="Microsoft JhengHei"/>
              </a:rPr>
              <a:t>推論與展示</a:t>
            </a:r>
            <a:endParaRPr lang="en-US" sz="14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"/>
          <p:cNvSpPr/>
          <p:nvPr/>
        </p:nvSpPr>
        <p:spPr>
          <a:xfrm>
            <a:off x="8286840" y="4667400"/>
            <a:ext cx="2904840" cy="1900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FF725F"/>
                </a:solidFill>
                <a:effectLst/>
                <a:uFillTx/>
                <a:latin typeface="Cascadia Mono"/>
                <a:ea typeface="Cascadia Mono"/>
              </a:rPr>
              <a:t>zip / ONNX / Streamlit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"/>
          <p:cNvSpPr/>
          <p:nvPr/>
        </p:nvSpPr>
        <p:spPr>
          <a:xfrm>
            <a:off x="6400800" y="4991040"/>
            <a:ext cx="4762080" cy="3805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TW" sz="1050" b="0" u="none" strike="noStrike">
                <a:solidFill>
                  <a:srgbClr val="4B5C68"/>
                </a:solidFill>
                <a:effectLst/>
                <a:uFillTx/>
                <a:latin typeface="Microsoft JhengHei"/>
                <a:ea typeface="Microsoft JhengHei"/>
              </a:rPr>
              <a:t>保留模型檔與 </a:t>
            </a:r>
            <a:r>
              <a:rPr lang="en-US" sz="1050" b="0" u="none" strike="noStrike">
                <a:solidFill>
                  <a:srgbClr val="4B5C68"/>
                </a:solidFill>
                <a:effectLst/>
                <a:uFillTx/>
                <a:latin typeface="Microsoft JhengHei"/>
                <a:ea typeface="Microsoft JhengHei"/>
              </a:rPr>
              <a:t>dashboard</a:t>
            </a:r>
            <a:r>
              <a:rPr lang="zh-TW" sz="1050" b="0" u="none" strike="noStrike">
                <a:solidFill>
                  <a:srgbClr val="4B5C68"/>
                </a:solidFill>
                <a:effectLst/>
                <a:uFillTx/>
                <a:latin typeface="Microsoft JhengHei"/>
                <a:ea typeface="Microsoft JhengHei"/>
              </a:rPr>
              <a:t>，能呈現訊號、淨值、回撤、部位變化。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"/>
          <p:cNvSpPr/>
          <p:nvPr/>
        </p:nvSpPr>
        <p:spPr>
          <a:xfrm>
            <a:off x="685800" y="6438960"/>
            <a:ext cx="10820160" cy="9000"/>
          </a:xfrm>
          <a:prstGeom prst="rect">
            <a:avLst/>
          </a:prstGeom>
          <a:solidFill>
            <a:srgbClr val="C4D1D5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"/>
          <p:cNvSpPr/>
          <p:nvPr/>
        </p:nvSpPr>
        <p:spPr>
          <a:xfrm>
            <a:off x="685800" y="6534000"/>
            <a:ext cx="838152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4B5C68"/>
                </a:solidFill>
                <a:effectLst/>
                <a:uFillTx/>
                <a:latin typeface="Microsoft JhengHei"/>
                <a:ea typeface="Microsoft JhengHei"/>
              </a:rPr>
              <a:t>Source: twse_pipeline_common.py, app.py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"/>
          <p:cNvSpPr/>
          <p:nvPr/>
        </p:nvSpPr>
        <p:spPr>
          <a:xfrm>
            <a:off x="11049120" y="6515280"/>
            <a:ext cx="456840" cy="1900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123A56"/>
                </a:solidFill>
                <a:effectLst/>
                <a:uFillTx/>
                <a:latin typeface="Cascadia Mono"/>
                <a:ea typeface="Cascadia Mono"/>
              </a:rPr>
              <a:t>05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7F8F4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kicker-06-marker"/>
          <p:cNvSpPr/>
          <p:nvPr/>
        </p:nvSpPr>
        <p:spPr>
          <a:xfrm>
            <a:off x="685800" y="495360"/>
            <a:ext cx="323640" cy="56880"/>
          </a:xfrm>
          <a:prstGeom prst="rect">
            <a:avLst/>
          </a:prstGeom>
          <a:solidFill>
            <a:srgbClr val="FF725F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12240" rIns="90000" bIns="122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kicker-06-label"/>
          <p:cNvSpPr/>
          <p:nvPr/>
        </p:nvSpPr>
        <p:spPr>
          <a:xfrm>
            <a:off x="1123920" y="419040"/>
            <a:ext cx="4952520" cy="2282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1908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1" u="none" strike="noStrike">
                <a:solidFill>
                  <a:srgbClr val="356B85"/>
                </a:solidFill>
                <a:effectLst/>
                <a:uFillTx/>
                <a:latin typeface="Microsoft JhengHei"/>
                <a:ea typeface="Microsoft JhengHei"/>
              </a:rPr>
              <a:t>PROPOSED SCHEME / MODEL SETUP</a:t>
            </a:r>
            <a:endParaRPr lang="en-US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"/>
          <p:cNvSpPr/>
          <p:nvPr/>
        </p:nvSpPr>
        <p:spPr>
          <a:xfrm>
            <a:off x="685800" y="800280"/>
            <a:ext cx="10096200" cy="8949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TW" sz="2700" b="1" u="none" strike="noStrike">
                <a:solidFill>
                  <a:srgbClr val="071018"/>
                </a:solidFill>
                <a:effectLst/>
                <a:uFillTx/>
                <a:latin typeface="Microsoft JhengHei"/>
                <a:ea typeface="Microsoft JhengHei"/>
              </a:rPr>
              <a:t>本專案訓練兩種市場範圍：</a:t>
            </a:r>
            <a:r>
              <a:rPr lang="en-US" sz="2700" b="1" u="none" strike="noStrike">
                <a:solidFill>
                  <a:srgbClr val="071018"/>
                </a:solidFill>
                <a:effectLst/>
                <a:uFillTx/>
                <a:latin typeface="Microsoft JhengHei"/>
                <a:ea typeface="Microsoft JhengHei"/>
              </a:rPr>
              <a:t>Pair </a:t>
            </a:r>
            <a:r>
              <a:rPr lang="zh-TW" sz="2700" b="1" u="none" strike="noStrike">
                <a:solidFill>
                  <a:srgbClr val="071018"/>
                </a:solidFill>
                <a:effectLst/>
                <a:uFillTx/>
                <a:latin typeface="Microsoft JhengHei"/>
                <a:ea typeface="Microsoft JhengHei"/>
              </a:rPr>
              <a:t>模型追求相對強弱，</a:t>
            </a:r>
            <a:r>
              <a:rPr lang="en-US" sz="2700" b="1" u="none" strike="noStrike">
                <a:solidFill>
                  <a:srgbClr val="071018"/>
                </a:solidFill>
                <a:effectLst/>
                <a:uFillTx/>
                <a:latin typeface="Microsoft JhengHei"/>
                <a:ea typeface="Microsoft JhengHei"/>
              </a:rPr>
              <a:t>Basket </a:t>
            </a:r>
            <a:r>
              <a:rPr lang="zh-TW" sz="2700" b="1" u="none" strike="noStrike">
                <a:solidFill>
                  <a:srgbClr val="071018"/>
                </a:solidFill>
                <a:effectLst/>
                <a:uFillTx/>
                <a:latin typeface="Microsoft JhengHei"/>
                <a:ea typeface="Microsoft JhengHei"/>
              </a:rPr>
              <a:t>模型追求分散配置。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"/>
          <p:cNvSpPr/>
          <p:nvPr/>
        </p:nvSpPr>
        <p:spPr>
          <a:xfrm>
            <a:off x="685800" y="1905120"/>
            <a:ext cx="2571480" cy="914040"/>
          </a:xfrm>
          <a:prstGeom prst="rect">
            <a:avLst/>
          </a:prstGeom>
          <a:solidFill>
            <a:srgbClr val="FFFFFF"/>
          </a:solidFill>
          <a:ln w="9525">
            <a:solidFill>
              <a:srgbClr val="C4D1D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"/>
          <p:cNvSpPr/>
          <p:nvPr/>
        </p:nvSpPr>
        <p:spPr>
          <a:xfrm>
            <a:off x="685800" y="1905120"/>
            <a:ext cx="56880" cy="914040"/>
          </a:xfrm>
          <a:prstGeom prst="rect">
            <a:avLst/>
          </a:prstGeom>
          <a:solidFill>
            <a:srgbClr val="FF725F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"/>
          <p:cNvSpPr/>
          <p:nvPr/>
        </p:nvSpPr>
        <p:spPr>
          <a:xfrm>
            <a:off x="876240" y="2048040"/>
            <a:ext cx="2304720" cy="3427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FF725F"/>
                </a:solidFill>
                <a:effectLst/>
                <a:uFillTx/>
                <a:latin typeface="Cascadia Mono"/>
                <a:ea typeface="Cascadia Mono"/>
              </a:rPr>
              <a:t>Pair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" name=""/>
          <p:cNvSpPr/>
          <p:nvPr/>
        </p:nvSpPr>
        <p:spPr>
          <a:xfrm>
            <a:off x="876240" y="2409840"/>
            <a:ext cx="2304720" cy="209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071018"/>
                </a:solidFill>
                <a:effectLst/>
                <a:uFillTx/>
                <a:latin typeface="Microsoft JhengHei"/>
                <a:ea typeface="Microsoft JhengHei"/>
              </a:rPr>
              <a:t>0050.TW + 2330.TW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" name=""/>
          <p:cNvSpPr/>
          <p:nvPr/>
        </p:nvSpPr>
        <p:spPr>
          <a:xfrm>
            <a:off x="876240" y="2619360"/>
            <a:ext cx="2304720" cy="1519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TW" sz="750" b="0" u="none" strike="noStrike">
                <a:solidFill>
                  <a:srgbClr val="4B5C68"/>
                </a:solidFill>
                <a:effectLst/>
                <a:uFillTx/>
                <a:latin typeface="Microsoft JhengHei"/>
                <a:ea typeface="Microsoft JhengHei"/>
              </a:rPr>
              <a:t>台灣 </a:t>
            </a:r>
            <a:r>
              <a:rPr lang="en-US" sz="750" b="0" u="none" strike="noStrike">
                <a:solidFill>
                  <a:srgbClr val="4B5C68"/>
                </a:solidFill>
                <a:effectLst/>
                <a:uFillTx/>
                <a:latin typeface="Microsoft JhengHei"/>
                <a:ea typeface="Microsoft JhengHei"/>
              </a:rPr>
              <a:t>50 ETF vs </a:t>
            </a:r>
            <a:r>
              <a:rPr lang="zh-TW" sz="750" b="0" u="none" strike="noStrike">
                <a:solidFill>
                  <a:srgbClr val="4B5C68"/>
                </a:solidFill>
                <a:effectLst/>
                <a:uFillTx/>
                <a:latin typeface="Microsoft JhengHei"/>
                <a:ea typeface="Microsoft JhengHei"/>
              </a:rPr>
              <a:t>台積電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"/>
          <p:cNvSpPr/>
          <p:nvPr/>
        </p:nvSpPr>
        <p:spPr>
          <a:xfrm>
            <a:off x="3543480" y="1905120"/>
            <a:ext cx="3428640" cy="914040"/>
          </a:xfrm>
          <a:prstGeom prst="rect">
            <a:avLst/>
          </a:prstGeom>
          <a:solidFill>
            <a:srgbClr val="FFFFFF"/>
          </a:solidFill>
          <a:ln w="9525">
            <a:solidFill>
              <a:srgbClr val="C4D1D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"/>
          <p:cNvSpPr/>
          <p:nvPr/>
        </p:nvSpPr>
        <p:spPr>
          <a:xfrm>
            <a:off x="3543480" y="1905120"/>
            <a:ext cx="56880" cy="914040"/>
          </a:xfrm>
          <a:prstGeom prst="rect">
            <a:avLst/>
          </a:prstGeom>
          <a:solidFill>
            <a:srgbClr val="356B85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"/>
          <p:cNvSpPr/>
          <p:nvPr/>
        </p:nvSpPr>
        <p:spPr>
          <a:xfrm>
            <a:off x="3733920" y="2048040"/>
            <a:ext cx="3161880" cy="3427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356B85"/>
                </a:solidFill>
                <a:effectLst/>
                <a:uFillTx/>
                <a:latin typeface="Cascadia Mono"/>
                <a:ea typeface="Cascadia Mono"/>
              </a:rPr>
              <a:t>Basket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"/>
          <p:cNvSpPr/>
          <p:nvPr/>
        </p:nvSpPr>
        <p:spPr>
          <a:xfrm>
            <a:off x="3733920" y="2409840"/>
            <a:ext cx="3161880" cy="209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071018"/>
                </a:solidFill>
                <a:effectLst/>
                <a:uFillTx/>
                <a:latin typeface="Microsoft JhengHei"/>
                <a:ea typeface="Microsoft JhengHei"/>
              </a:rPr>
              <a:t>0050.TW + 2330.TW + 2412.TW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" name=""/>
          <p:cNvSpPr/>
          <p:nvPr/>
        </p:nvSpPr>
        <p:spPr>
          <a:xfrm>
            <a:off x="3733920" y="2619360"/>
            <a:ext cx="3161880" cy="1519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TW" sz="750" b="0" u="none" strike="noStrike">
                <a:solidFill>
                  <a:srgbClr val="4B5C68"/>
                </a:solidFill>
                <a:effectLst/>
                <a:uFillTx/>
                <a:latin typeface="Microsoft JhengHei"/>
                <a:ea typeface="Microsoft JhengHei"/>
              </a:rPr>
              <a:t>加入中華電信增加防禦性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"/>
          <p:cNvSpPr/>
          <p:nvPr/>
        </p:nvSpPr>
        <p:spPr>
          <a:xfrm>
            <a:off x="7257960" y="1905120"/>
            <a:ext cx="2571480" cy="914040"/>
          </a:xfrm>
          <a:prstGeom prst="rect">
            <a:avLst/>
          </a:prstGeom>
          <a:solidFill>
            <a:srgbClr val="FFFFFF"/>
          </a:solidFill>
          <a:ln w="9525">
            <a:solidFill>
              <a:srgbClr val="C4D1D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"/>
          <p:cNvSpPr/>
          <p:nvPr/>
        </p:nvSpPr>
        <p:spPr>
          <a:xfrm>
            <a:off x="7257960" y="1905120"/>
            <a:ext cx="56880" cy="914040"/>
          </a:xfrm>
          <a:prstGeom prst="rect">
            <a:avLst/>
          </a:prstGeom>
          <a:solidFill>
            <a:srgbClr val="123A56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" name=""/>
          <p:cNvSpPr/>
          <p:nvPr/>
        </p:nvSpPr>
        <p:spPr>
          <a:xfrm>
            <a:off x="7448400" y="2048040"/>
            <a:ext cx="2304720" cy="3427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123A56"/>
                </a:solidFill>
                <a:effectLst/>
                <a:uFillTx/>
                <a:latin typeface="Cascadia Mono"/>
                <a:ea typeface="Cascadia Mono"/>
              </a:rPr>
              <a:t>PPO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" name=""/>
          <p:cNvSpPr/>
          <p:nvPr/>
        </p:nvSpPr>
        <p:spPr>
          <a:xfrm>
            <a:off x="7448400" y="2409840"/>
            <a:ext cx="2304720" cy="209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071018"/>
                </a:solidFill>
                <a:effectLst/>
                <a:uFillTx/>
                <a:latin typeface="Microsoft JhengHei"/>
                <a:ea typeface="Microsoft JhengHei"/>
              </a:rPr>
              <a:t>MlpPolicy / [128,128]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"/>
          <p:cNvSpPr/>
          <p:nvPr/>
        </p:nvSpPr>
        <p:spPr>
          <a:xfrm>
            <a:off x="7448400" y="2619360"/>
            <a:ext cx="2304720" cy="1519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4B5C68"/>
                </a:solidFill>
                <a:effectLst/>
                <a:uFillTx/>
                <a:latin typeface="Microsoft JhengHei"/>
                <a:ea typeface="Microsoft JhengHei"/>
              </a:rPr>
              <a:t>policy / value network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" name=""/>
          <p:cNvSpPr/>
          <p:nvPr/>
        </p:nvSpPr>
        <p:spPr>
          <a:xfrm>
            <a:off x="685800" y="3333600"/>
            <a:ext cx="4952520" cy="1618920"/>
          </a:xfrm>
          <a:prstGeom prst="rect">
            <a:avLst/>
          </a:prstGeom>
          <a:solidFill>
            <a:srgbClr val="FFFFFF"/>
          </a:solidFill>
          <a:ln w="9525">
            <a:solidFill>
              <a:srgbClr val="C4D1D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"/>
          <p:cNvSpPr/>
          <p:nvPr/>
        </p:nvSpPr>
        <p:spPr>
          <a:xfrm>
            <a:off x="952560" y="3619440"/>
            <a:ext cx="3142800" cy="2854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725F"/>
                </a:solidFill>
                <a:effectLst/>
                <a:uFillTx/>
                <a:latin typeface="Microsoft JhengHei"/>
                <a:ea typeface="Microsoft JhengHei"/>
              </a:rPr>
              <a:t>Pair </a:t>
            </a:r>
            <a:r>
              <a:rPr lang="zh-TW" sz="1800" b="1" u="none" strike="noStrike">
                <a:solidFill>
                  <a:srgbClr val="FF725F"/>
                </a:solidFill>
                <a:effectLst/>
                <a:uFillTx/>
                <a:latin typeface="Microsoft JhengHei"/>
                <a:ea typeface="Microsoft JhengHei"/>
              </a:rPr>
              <a:t>模型資料背景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" name=""/>
          <p:cNvSpPr/>
          <p:nvPr/>
        </p:nvSpPr>
        <p:spPr>
          <a:xfrm>
            <a:off x="952560" y="4057560"/>
            <a:ext cx="4095360" cy="6472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TW" sz="1280" b="0" u="none" strike="noStrike">
                <a:solidFill>
                  <a:srgbClr val="4B5C68"/>
                </a:solidFill>
                <a:effectLst/>
                <a:uFillTx/>
                <a:latin typeface="Microsoft JhengHei"/>
                <a:ea typeface="Microsoft JhengHei"/>
              </a:rPr>
              <a:t>使用 </a:t>
            </a:r>
            <a:r>
              <a:rPr lang="en-US" sz="1280" b="0" u="none" strike="noStrike">
                <a:solidFill>
                  <a:srgbClr val="4B5C68"/>
                </a:solidFill>
                <a:effectLst/>
                <a:uFillTx/>
                <a:latin typeface="Microsoft JhengHei"/>
                <a:ea typeface="Microsoft JhengHei"/>
              </a:rPr>
              <a:t>0050.TW </a:t>
            </a:r>
            <a:r>
              <a:rPr lang="zh-TW" sz="1280" b="0" u="none" strike="noStrike">
                <a:solidFill>
                  <a:srgbClr val="4B5C68"/>
                </a:solidFill>
                <a:effectLst/>
                <a:uFillTx/>
                <a:latin typeface="Microsoft JhengHei"/>
                <a:ea typeface="Microsoft JhengHei"/>
              </a:rPr>
              <a:t>與 </a:t>
            </a:r>
            <a:r>
              <a:rPr lang="en-US" sz="1280" b="0" u="none" strike="noStrike">
                <a:solidFill>
                  <a:srgbClr val="4B5C68"/>
                </a:solidFill>
                <a:effectLst/>
                <a:uFillTx/>
                <a:latin typeface="Microsoft JhengHei"/>
                <a:ea typeface="Microsoft JhengHei"/>
              </a:rPr>
              <a:t>2330.TW</a:t>
            </a:r>
            <a:r>
              <a:rPr lang="zh-TW" sz="1280" b="0" u="none" strike="noStrike">
                <a:solidFill>
                  <a:srgbClr val="4B5C68"/>
                </a:solidFill>
                <a:effectLst/>
                <a:uFillTx/>
                <a:latin typeface="Microsoft JhengHei"/>
                <a:ea typeface="Microsoft JhengHei"/>
              </a:rPr>
              <a:t>。</a:t>
            </a:r>
            <a:r>
              <a:rPr lang="en-US" sz="1280" b="0" u="none" strike="noStrike">
                <a:solidFill>
                  <a:srgbClr val="4B5C68"/>
                </a:solidFill>
                <a:effectLst/>
                <a:uFillTx/>
                <a:latin typeface="Microsoft JhengHei"/>
                <a:ea typeface="Microsoft JhengHei"/>
              </a:rPr>
              <a:t>0050 </a:t>
            </a:r>
            <a:r>
              <a:rPr lang="zh-TW" sz="1280" b="0" u="none" strike="noStrike">
                <a:solidFill>
                  <a:srgbClr val="4B5C68"/>
                </a:solidFill>
                <a:effectLst/>
                <a:uFillTx/>
                <a:latin typeface="Microsoft JhengHei"/>
                <a:ea typeface="Microsoft JhengHei"/>
              </a:rPr>
              <a:t>代表台灣大型權值股 </a:t>
            </a:r>
            <a:r>
              <a:rPr lang="en-US" sz="1280" b="0" u="none" strike="noStrike">
                <a:solidFill>
                  <a:srgbClr val="4B5C68"/>
                </a:solidFill>
                <a:effectLst/>
                <a:uFillTx/>
                <a:latin typeface="Microsoft JhengHei"/>
                <a:ea typeface="Microsoft JhengHei"/>
              </a:rPr>
              <a:t>ETF</a:t>
            </a:r>
            <a:r>
              <a:rPr lang="zh-TW" sz="1280" b="0" u="none" strike="noStrike">
                <a:solidFill>
                  <a:srgbClr val="4B5C68"/>
                </a:solidFill>
                <a:effectLst/>
                <a:uFillTx/>
                <a:latin typeface="Microsoft JhengHei"/>
                <a:ea typeface="Microsoft JhengHei"/>
              </a:rPr>
              <a:t>，</a:t>
            </a:r>
            <a:r>
              <a:rPr lang="en-US" sz="1280" b="0" u="none" strike="noStrike">
                <a:solidFill>
                  <a:srgbClr val="4B5C68"/>
                </a:solidFill>
                <a:effectLst/>
                <a:uFillTx/>
                <a:latin typeface="Microsoft JhengHei"/>
                <a:ea typeface="Microsoft JhengHei"/>
              </a:rPr>
              <a:t>2330 </a:t>
            </a:r>
            <a:r>
              <a:rPr lang="zh-TW" sz="1280" b="0" u="none" strike="noStrike">
                <a:solidFill>
                  <a:srgbClr val="4B5C68"/>
                </a:solidFill>
                <a:effectLst/>
                <a:uFillTx/>
                <a:latin typeface="Microsoft JhengHei"/>
                <a:ea typeface="Microsoft JhengHei"/>
              </a:rPr>
              <a:t>代表半導體龍頭；模型學習兩者相對價差與 </a:t>
            </a:r>
            <a:r>
              <a:rPr lang="en-US" sz="1280" b="0" u="none" strike="noStrike">
                <a:solidFill>
                  <a:srgbClr val="4B5C68"/>
                </a:solidFill>
                <a:effectLst/>
                <a:uFillTx/>
                <a:latin typeface="Microsoft JhengHei"/>
                <a:ea typeface="Microsoft JhengHei"/>
              </a:rPr>
              <a:t>SMC </a:t>
            </a:r>
            <a:r>
              <a:rPr lang="zh-TW" sz="1280" b="0" u="none" strike="noStrike">
                <a:solidFill>
                  <a:srgbClr val="4B5C68"/>
                </a:solidFill>
                <a:effectLst/>
                <a:uFillTx/>
                <a:latin typeface="Microsoft JhengHei"/>
                <a:ea typeface="Microsoft JhengHei"/>
              </a:rPr>
              <a:t>訊號下的資金切換。</a:t>
            </a:r>
            <a:endParaRPr lang="en-US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" name=""/>
          <p:cNvSpPr/>
          <p:nvPr/>
        </p:nvSpPr>
        <p:spPr>
          <a:xfrm>
            <a:off x="5981760" y="3333600"/>
            <a:ext cx="4952520" cy="1618920"/>
          </a:xfrm>
          <a:prstGeom prst="rect">
            <a:avLst/>
          </a:prstGeom>
          <a:solidFill>
            <a:srgbClr val="EEF4F3"/>
          </a:solidFill>
          <a:ln w="9525">
            <a:solidFill>
              <a:srgbClr val="C4D1D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"/>
          <p:cNvSpPr/>
          <p:nvPr/>
        </p:nvSpPr>
        <p:spPr>
          <a:xfrm>
            <a:off x="6248520" y="3619440"/>
            <a:ext cx="3142800" cy="2854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356B85"/>
                </a:solidFill>
                <a:effectLst/>
                <a:uFillTx/>
                <a:latin typeface="Microsoft JhengHei"/>
                <a:ea typeface="Microsoft JhengHei"/>
              </a:rPr>
              <a:t>Basket </a:t>
            </a:r>
            <a:r>
              <a:rPr lang="zh-TW" sz="1800" b="1" u="none" strike="noStrike">
                <a:solidFill>
                  <a:srgbClr val="356B85"/>
                </a:solidFill>
                <a:effectLst/>
                <a:uFillTx/>
                <a:latin typeface="Microsoft JhengHei"/>
                <a:ea typeface="Microsoft JhengHei"/>
              </a:rPr>
              <a:t>模型資料背景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" name=""/>
          <p:cNvSpPr/>
          <p:nvPr/>
        </p:nvSpPr>
        <p:spPr>
          <a:xfrm>
            <a:off x="6248520" y="4057560"/>
            <a:ext cx="4095360" cy="6472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TW" sz="1280" b="0" u="none" strike="noStrike">
                <a:solidFill>
                  <a:srgbClr val="4B5C68"/>
                </a:solidFill>
                <a:effectLst/>
                <a:uFillTx/>
                <a:latin typeface="Microsoft JhengHei"/>
                <a:ea typeface="Microsoft JhengHei"/>
              </a:rPr>
              <a:t>使用 </a:t>
            </a:r>
            <a:r>
              <a:rPr lang="en-US" sz="1280" b="0" u="none" strike="noStrike">
                <a:solidFill>
                  <a:srgbClr val="4B5C68"/>
                </a:solidFill>
                <a:effectLst/>
                <a:uFillTx/>
                <a:latin typeface="Microsoft JhengHei"/>
                <a:ea typeface="Microsoft JhengHei"/>
              </a:rPr>
              <a:t>0050.TW</a:t>
            </a:r>
            <a:r>
              <a:rPr lang="zh-TW" sz="1280" b="0" u="none" strike="noStrike">
                <a:solidFill>
                  <a:srgbClr val="4B5C68"/>
                </a:solidFill>
                <a:effectLst/>
                <a:uFillTx/>
                <a:latin typeface="Microsoft JhengHei"/>
                <a:ea typeface="Microsoft JhengHei"/>
              </a:rPr>
              <a:t>、</a:t>
            </a:r>
            <a:r>
              <a:rPr lang="en-US" sz="1280" b="0" u="none" strike="noStrike">
                <a:solidFill>
                  <a:srgbClr val="4B5C68"/>
                </a:solidFill>
                <a:effectLst/>
                <a:uFillTx/>
                <a:latin typeface="Microsoft JhengHei"/>
                <a:ea typeface="Microsoft JhengHei"/>
              </a:rPr>
              <a:t>2330.TW</a:t>
            </a:r>
            <a:r>
              <a:rPr lang="zh-TW" sz="1280" b="0" u="none" strike="noStrike">
                <a:solidFill>
                  <a:srgbClr val="4B5C68"/>
                </a:solidFill>
                <a:effectLst/>
                <a:uFillTx/>
                <a:latin typeface="Microsoft JhengHei"/>
                <a:ea typeface="Microsoft JhengHei"/>
              </a:rPr>
              <a:t>、</a:t>
            </a:r>
            <a:r>
              <a:rPr lang="en-US" sz="1280" b="0" u="none" strike="noStrike">
                <a:solidFill>
                  <a:srgbClr val="4B5C68"/>
                </a:solidFill>
                <a:effectLst/>
                <a:uFillTx/>
                <a:latin typeface="Microsoft JhengHei"/>
                <a:ea typeface="Microsoft JhengHei"/>
              </a:rPr>
              <a:t>2412.TW</a:t>
            </a:r>
            <a:r>
              <a:rPr lang="zh-TW" sz="1280" b="0" u="none" strike="noStrike">
                <a:solidFill>
                  <a:srgbClr val="4B5C68"/>
                </a:solidFill>
                <a:effectLst/>
                <a:uFillTx/>
                <a:latin typeface="Microsoft JhengHei"/>
                <a:ea typeface="Microsoft JhengHei"/>
              </a:rPr>
              <a:t>。除了 </a:t>
            </a:r>
            <a:r>
              <a:rPr lang="en-US" sz="1280" b="0" u="none" strike="noStrike">
                <a:solidFill>
                  <a:srgbClr val="4B5C68"/>
                </a:solidFill>
                <a:effectLst/>
                <a:uFillTx/>
                <a:latin typeface="Microsoft JhengHei"/>
                <a:ea typeface="Microsoft JhengHei"/>
              </a:rPr>
              <a:t>ETF </a:t>
            </a:r>
            <a:r>
              <a:rPr lang="zh-TW" sz="1280" b="0" u="none" strike="noStrike">
                <a:solidFill>
                  <a:srgbClr val="4B5C68"/>
                </a:solidFill>
                <a:effectLst/>
                <a:uFillTx/>
                <a:latin typeface="Microsoft JhengHei"/>
                <a:ea typeface="Microsoft JhengHei"/>
              </a:rPr>
              <a:t>與半導體，也加入電信防禦股，讓 </a:t>
            </a:r>
            <a:r>
              <a:rPr lang="en-US" sz="1280" b="0" u="none" strike="noStrike">
                <a:solidFill>
                  <a:srgbClr val="4B5C68"/>
                </a:solidFill>
                <a:effectLst/>
                <a:uFillTx/>
                <a:latin typeface="Microsoft JhengHei"/>
                <a:ea typeface="Microsoft JhengHei"/>
              </a:rPr>
              <a:t>PPO </a:t>
            </a:r>
            <a:r>
              <a:rPr lang="zh-TW" sz="1280" b="0" u="none" strike="noStrike">
                <a:solidFill>
                  <a:srgbClr val="4B5C68"/>
                </a:solidFill>
                <a:effectLst/>
                <a:uFillTx/>
                <a:latin typeface="Microsoft JhengHei"/>
                <a:ea typeface="Microsoft JhengHei"/>
              </a:rPr>
              <a:t>可以在成長型與穩定型標的間分配資金。</a:t>
            </a:r>
            <a:endParaRPr lang="en-US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"/>
          <p:cNvSpPr/>
          <p:nvPr/>
        </p:nvSpPr>
        <p:spPr>
          <a:xfrm>
            <a:off x="685800" y="6438960"/>
            <a:ext cx="10820160" cy="9000"/>
          </a:xfrm>
          <a:prstGeom prst="rect">
            <a:avLst/>
          </a:prstGeom>
          <a:solidFill>
            <a:srgbClr val="C4D1D5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"/>
          <p:cNvSpPr/>
          <p:nvPr/>
        </p:nvSpPr>
        <p:spPr>
          <a:xfrm>
            <a:off x="685800" y="6534000"/>
            <a:ext cx="838152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4B5C68"/>
                </a:solidFill>
                <a:effectLst/>
                <a:uFillTx/>
                <a:latin typeface="Microsoft JhengHei"/>
                <a:ea typeface="Microsoft JhengHei"/>
              </a:rPr>
              <a:t>Source: PAIR_CONFIG, BASKET_CONFIG, train_pipeline.py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" name=""/>
          <p:cNvSpPr/>
          <p:nvPr/>
        </p:nvSpPr>
        <p:spPr>
          <a:xfrm>
            <a:off x="11049120" y="6515280"/>
            <a:ext cx="456840" cy="1900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123A56"/>
                </a:solidFill>
                <a:effectLst/>
                <a:uFillTx/>
                <a:latin typeface="Cascadia Mono"/>
                <a:ea typeface="Cascadia Mono"/>
              </a:rPr>
              <a:t>06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7F8F4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kicker-07-marker"/>
          <p:cNvSpPr/>
          <p:nvPr/>
        </p:nvSpPr>
        <p:spPr>
          <a:xfrm>
            <a:off x="685800" y="495360"/>
            <a:ext cx="323640" cy="56880"/>
          </a:xfrm>
          <a:prstGeom prst="rect">
            <a:avLst/>
          </a:prstGeom>
          <a:solidFill>
            <a:srgbClr val="FF725F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12240" rIns="90000" bIns="122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" name="kicker-07-label"/>
          <p:cNvSpPr/>
          <p:nvPr/>
        </p:nvSpPr>
        <p:spPr>
          <a:xfrm>
            <a:off x="1123920" y="419040"/>
            <a:ext cx="4952520" cy="2282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1908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1" u="none" strike="noStrike">
                <a:solidFill>
                  <a:srgbClr val="356B85"/>
                </a:solidFill>
                <a:effectLst/>
                <a:uFillTx/>
                <a:latin typeface="Microsoft JhengHei"/>
                <a:ea typeface="Microsoft JhengHei"/>
              </a:rPr>
              <a:t>SIMULATION / DATA SPLIT</a:t>
            </a:r>
            <a:endParaRPr lang="en-US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" name=""/>
          <p:cNvSpPr/>
          <p:nvPr/>
        </p:nvSpPr>
        <p:spPr>
          <a:xfrm>
            <a:off x="685800" y="800280"/>
            <a:ext cx="10096200" cy="8949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TW" sz="2700" b="1" u="none" strike="noStrike">
                <a:solidFill>
                  <a:srgbClr val="071018"/>
                </a:solidFill>
                <a:effectLst/>
                <a:uFillTx/>
                <a:latin typeface="Microsoft JhengHei"/>
                <a:ea typeface="Microsoft JhengHei"/>
              </a:rPr>
              <a:t>訓練與驗證採連續時間切分，避免把未來行情放進訓練。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" name=""/>
          <p:cNvSpPr/>
          <p:nvPr/>
        </p:nvSpPr>
        <p:spPr>
          <a:xfrm>
            <a:off x="1047600" y="2571840"/>
            <a:ext cx="6667200" cy="171000"/>
          </a:xfrm>
          <a:prstGeom prst="rect">
            <a:avLst/>
          </a:prstGeom>
          <a:solidFill>
            <a:srgbClr val="D8E6E8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"/>
          <p:cNvSpPr/>
          <p:nvPr/>
        </p:nvSpPr>
        <p:spPr>
          <a:xfrm>
            <a:off x="1047600" y="2571840"/>
            <a:ext cx="4952520" cy="171000"/>
          </a:xfrm>
          <a:prstGeom prst="rect">
            <a:avLst/>
          </a:prstGeom>
          <a:solidFill>
            <a:srgbClr val="123A56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" name=""/>
          <p:cNvSpPr/>
          <p:nvPr/>
        </p:nvSpPr>
        <p:spPr>
          <a:xfrm>
            <a:off x="6000840" y="2571840"/>
            <a:ext cx="1714320" cy="171000"/>
          </a:xfrm>
          <a:prstGeom prst="rect">
            <a:avLst/>
          </a:prstGeom>
          <a:solidFill>
            <a:srgbClr val="FF725F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" name=""/>
          <p:cNvSpPr/>
          <p:nvPr/>
        </p:nvSpPr>
        <p:spPr>
          <a:xfrm>
            <a:off x="1047600" y="2048040"/>
            <a:ext cx="4762080" cy="3236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TW" sz="1870" b="1" u="none" strike="noStrike">
                <a:solidFill>
                  <a:srgbClr val="123A56"/>
                </a:solidFill>
                <a:effectLst/>
                <a:uFillTx/>
                <a:latin typeface="Microsoft JhengHei"/>
                <a:ea typeface="Microsoft JhengHei"/>
              </a:rPr>
              <a:t>訓練資料：</a:t>
            </a:r>
            <a:r>
              <a:rPr lang="en-US" sz="1870" b="1" u="none" strike="noStrike">
                <a:solidFill>
                  <a:srgbClr val="123A56"/>
                </a:solidFill>
                <a:effectLst/>
                <a:uFillTx/>
                <a:latin typeface="Microsoft JhengHei"/>
                <a:ea typeface="Microsoft JhengHei"/>
              </a:rPr>
              <a:t>2018-01-01 ~ 2024-12-31</a:t>
            </a:r>
            <a:endParaRPr lang="en-US" sz="18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" name=""/>
          <p:cNvSpPr/>
          <p:nvPr/>
        </p:nvSpPr>
        <p:spPr>
          <a:xfrm>
            <a:off x="6048360" y="3000240"/>
            <a:ext cx="4762080" cy="3236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TW" sz="1870" b="1" u="none" strike="noStrike">
                <a:solidFill>
                  <a:srgbClr val="FF725F"/>
                </a:solidFill>
                <a:effectLst/>
                <a:uFillTx/>
                <a:latin typeface="Microsoft JhengHei"/>
                <a:ea typeface="Microsoft JhengHei"/>
              </a:rPr>
              <a:t>驗證 </a:t>
            </a:r>
            <a:r>
              <a:rPr lang="en-US" sz="1870" b="1" u="none" strike="noStrike">
                <a:solidFill>
                  <a:srgbClr val="FF725F"/>
                </a:solidFill>
                <a:effectLst/>
                <a:uFillTx/>
                <a:latin typeface="Microsoft JhengHei"/>
                <a:ea typeface="Microsoft JhengHei"/>
              </a:rPr>
              <a:t>/ </a:t>
            </a:r>
            <a:r>
              <a:rPr lang="zh-TW" sz="1870" b="1" u="none" strike="noStrike">
                <a:solidFill>
                  <a:srgbClr val="FF725F"/>
                </a:solidFill>
                <a:effectLst/>
                <a:uFillTx/>
                <a:latin typeface="Microsoft JhengHei"/>
                <a:ea typeface="Microsoft JhengHei"/>
              </a:rPr>
              <a:t>推論資料：</a:t>
            </a:r>
            <a:r>
              <a:rPr lang="en-US" sz="1870" b="1" u="none" strike="noStrike">
                <a:solidFill>
                  <a:srgbClr val="FF725F"/>
                </a:solidFill>
                <a:effectLst/>
                <a:uFillTx/>
                <a:latin typeface="Microsoft JhengHei"/>
                <a:ea typeface="Microsoft JhengHei"/>
              </a:rPr>
              <a:t>2025-01-01 ~ 2026-05-01</a:t>
            </a:r>
            <a:endParaRPr lang="en-US" sz="18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" name=""/>
          <p:cNvSpPr/>
          <p:nvPr/>
        </p:nvSpPr>
        <p:spPr>
          <a:xfrm>
            <a:off x="1047600" y="3238560"/>
            <a:ext cx="6476760" cy="2282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TW" sz="1130" b="0" u="none" strike="noStrike">
                <a:solidFill>
                  <a:srgbClr val="4B5C68"/>
                </a:solidFill>
                <a:effectLst/>
                <a:uFillTx/>
                <a:latin typeface="Microsoft JhengHei"/>
                <a:ea typeface="Microsoft JhengHei"/>
              </a:rPr>
              <a:t>註：程式中的 </a:t>
            </a:r>
            <a:r>
              <a:rPr lang="en-US" sz="1130" b="0" u="none" strike="noStrike">
                <a:solidFill>
                  <a:srgbClr val="4B5C68"/>
                </a:solidFill>
                <a:effectLst/>
                <a:uFillTx/>
                <a:latin typeface="Microsoft JhengHei"/>
                <a:ea typeface="Microsoft JhengHei"/>
              </a:rPr>
              <a:t>TRAIN_END </a:t>
            </a:r>
            <a:r>
              <a:rPr lang="zh-TW" sz="1130" b="0" u="none" strike="noStrike">
                <a:solidFill>
                  <a:srgbClr val="4B5C68"/>
                </a:solidFill>
                <a:effectLst/>
                <a:uFillTx/>
                <a:latin typeface="Microsoft JhengHei"/>
                <a:ea typeface="Microsoft JhengHei"/>
              </a:rPr>
              <a:t>為 </a:t>
            </a:r>
            <a:r>
              <a:rPr lang="en-US" sz="1130" b="0" u="none" strike="noStrike">
                <a:solidFill>
                  <a:srgbClr val="4B5C68"/>
                </a:solidFill>
                <a:effectLst/>
                <a:uFillTx/>
                <a:latin typeface="Microsoft JhengHei"/>
                <a:ea typeface="Microsoft JhengHei"/>
              </a:rPr>
              <a:t>2024-12-31</a:t>
            </a:r>
            <a:r>
              <a:rPr lang="zh-TW" sz="1130" b="0" u="none" strike="noStrike">
                <a:solidFill>
                  <a:srgbClr val="4B5C68"/>
                </a:solidFill>
                <a:effectLst/>
                <a:uFillTx/>
                <a:latin typeface="Microsoft JhengHei"/>
                <a:ea typeface="Microsoft JhengHei"/>
              </a:rPr>
              <a:t>；這裡依程式實際設定呈現。</a:t>
            </a:r>
            <a:endParaRPr lang="en-US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" name=""/>
          <p:cNvSpPr/>
          <p:nvPr/>
        </p:nvSpPr>
        <p:spPr>
          <a:xfrm>
            <a:off x="1047600" y="4000680"/>
            <a:ext cx="4571640" cy="1047240"/>
          </a:xfrm>
          <a:prstGeom prst="rect">
            <a:avLst/>
          </a:prstGeom>
          <a:solidFill>
            <a:srgbClr val="FFFFFF"/>
          </a:solidFill>
          <a:ln w="9525">
            <a:solidFill>
              <a:srgbClr val="C4D1D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"/>
          <p:cNvSpPr/>
          <p:nvPr/>
        </p:nvSpPr>
        <p:spPr>
          <a:xfrm>
            <a:off x="1314360" y="4248000"/>
            <a:ext cx="1904760" cy="2473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TW" sz="1650" b="1" u="none" strike="noStrike">
                <a:solidFill>
                  <a:srgbClr val="123A56"/>
                </a:solidFill>
                <a:effectLst/>
                <a:uFillTx/>
                <a:latin typeface="Microsoft JhengHei"/>
                <a:ea typeface="Microsoft JhengHei"/>
              </a:rPr>
              <a:t>訓練階段</a:t>
            </a:r>
            <a:endParaRPr lang="en-US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2" name=""/>
          <p:cNvSpPr/>
          <p:nvPr/>
        </p:nvSpPr>
        <p:spPr>
          <a:xfrm>
            <a:off x="1314360" y="4591080"/>
            <a:ext cx="3714480" cy="3614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4B5C68"/>
                </a:solidFill>
                <a:effectLst/>
                <a:uFillTx/>
                <a:latin typeface="Microsoft JhengHei"/>
                <a:ea typeface="Microsoft JhengHei"/>
              </a:rPr>
              <a:t>PPO </a:t>
            </a:r>
            <a:r>
              <a:rPr lang="zh-TW" sz="1130" b="0" u="none" strike="noStrike">
                <a:solidFill>
                  <a:srgbClr val="4B5C68"/>
                </a:solidFill>
                <a:effectLst/>
                <a:uFillTx/>
                <a:latin typeface="Microsoft JhengHei"/>
                <a:ea typeface="Microsoft JhengHei"/>
              </a:rPr>
              <a:t>在歷史資料中反覆與交易環境互動，學習 </a:t>
            </a:r>
            <a:r>
              <a:rPr lang="en-US" sz="1130" b="0" u="none" strike="noStrike">
                <a:solidFill>
                  <a:srgbClr val="4B5C68"/>
                </a:solidFill>
                <a:effectLst/>
                <a:uFillTx/>
                <a:latin typeface="Microsoft JhengHei"/>
                <a:ea typeface="Microsoft JhengHei"/>
              </a:rPr>
              <a:t>state -&gt; action -&gt; reward </a:t>
            </a:r>
            <a:r>
              <a:rPr lang="zh-TW" sz="1130" b="0" u="none" strike="noStrike">
                <a:solidFill>
                  <a:srgbClr val="4B5C68"/>
                </a:solidFill>
                <a:effectLst/>
                <a:uFillTx/>
                <a:latin typeface="Microsoft JhengHei"/>
                <a:ea typeface="Microsoft JhengHei"/>
              </a:rPr>
              <a:t>的策略參數。每個模型訓練 </a:t>
            </a:r>
            <a:r>
              <a:rPr lang="en-US" sz="1130" b="0" u="none" strike="noStrike">
                <a:solidFill>
                  <a:srgbClr val="4B5C68"/>
                </a:solidFill>
                <a:effectLst/>
                <a:uFillTx/>
                <a:latin typeface="Microsoft JhengHei"/>
                <a:ea typeface="Microsoft JhengHei"/>
              </a:rPr>
              <a:t>500,000 timesteps</a:t>
            </a:r>
            <a:r>
              <a:rPr lang="zh-TW" sz="1130" b="0" u="none" strike="noStrike">
                <a:solidFill>
                  <a:srgbClr val="4B5C68"/>
                </a:solidFill>
                <a:effectLst/>
                <a:uFillTx/>
                <a:latin typeface="Microsoft JhengHei"/>
                <a:ea typeface="Microsoft JhengHei"/>
              </a:rPr>
              <a:t>。</a:t>
            </a:r>
            <a:endParaRPr lang="en-US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" name=""/>
          <p:cNvSpPr/>
          <p:nvPr/>
        </p:nvSpPr>
        <p:spPr>
          <a:xfrm>
            <a:off x="6000840" y="4000680"/>
            <a:ext cx="4571640" cy="1047240"/>
          </a:xfrm>
          <a:prstGeom prst="rect">
            <a:avLst/>
          </a:prstGeom>
          <a:solidFill>
            <a:srgbClr val="EEF4F3"/>
          </a:solidFill>
          <a:ln w="9525">
            <a:solidFill>
              <a:srgbClr val="C4D1D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"/>
          <p:cNvSpPr/>
          <p:nvPr/>
        </p:nvSpPr>
        <p:spPr>
          <a:xfrm>
            <a:off x="6267600" y="4248000"/>
            <a:ext cx="1904760" cy="2473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TW" sz="1650" b="1" u="none" strike="noStrike">
                <a:solidFill>
                  <a:srgbClr val="FF725F"/>
                </a:solidFill>
                <a:effectLst/>
                <a:uFillTx/>
                <a:latin typeface="Microsoft JhengHei"/>
                <a:ea typeface="Microsoft JhengHei"/>
              </a:rPr>
              <a:t>驗證階段</a:t>
            </a:r>
            <a:endParaRPr lang="en-US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5" name=""/>
          <p:cNvSpPr/>
          <p:nvPr/>
        </p:nvSpPr>
        <p:spPr>
          <a:xfrm>
            <a:off x="6267600" y="4591080"/>
            <a:ext cx="3714480" cy="3614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TW" sz="1130" b="0" u="none" strike="noStrike">
                <a:solidFill>
                  <a:srgbClr val="4B5C68"/>
                </a:solidFill>
                <a:effectLst/>
                <a:uFillTx/>
                <a:latin typeface="Microsoft JhengHei"/>
                <a:ea typeface="Microsoft JhengHei"/>
              </a:rPr>
              <a:t>驗證時只載入已訓練權重，使用 </a:t>
            </a:r>
            <a:r>
              <a:rPr lang="en-US" sz="1130" b="0" u="none" strike="noStrike">
                <a:solidFill>
                  <a:srgbClr val="4B5C68"/>
                </a:solidFill>
                <a:effectLst/>
                <a:uFillTx/>
                <a:latin typeface="Microsoft JhengHei"/>
                <a:ea typeface="Microsoft JhengHei"/>
              </a:rPr>
              <a:t>deterministic=True </a:t>
            </a:r>
            <a:r>
              <a:rPr lang="zh-TW" sz="1130" b="0" u="none" strike="noStrike">
                <a:solidFill>
                  <a:srgbClr val="4B5C68"/>
                </a:solidFill>
                <a:effectLst/>
                <a:uFillTx/>
                <a:latin typeface="Microsoft JhengHei"/>
                <a:ea typeface="Microsoft JhengHei"/>
              </a:rPr>
              <a:t>產生固定策略，不再呼叫 </a:t>
            </a:r>
            <a:r>
              <a:rPr lang="en-US" sz="1130" b="0" u="none" strike="noStrike">
                <a:solidFill>
                  <a:srgbClr val="4B5C68"/>
                </a:solidFill>
                <a:effectLst/>
                <a:uFillTx/>
                <a:latin typeface="Microsoft JhengHei"/>
                <a:ea typeface="Microsoft JhengHei"/>
              </a:rPr>
              <a:t>model.learn()</a:t>
            </a:r>
            <a:r>
              <a:rPr lang="zh-TW" sz="1130" b="0" u="none" strike="noStrike">
                <a:solidFill>
                  <a:srgbClr val="4B5C68"/>
                </a:solidFill>
                <a:effectLst/>
                <a:uFillTx/>
                <a:latin typeface="Microsoft JhengHei"/>
                <a:ea typeface="Microsoft JhengHei"/>
              </a:rPr>
              <a:t>。</a:t>
            </a:r>
            <a:endParaRPr lang="en-US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6" name=""/>
          <p:cNvSpPr/>
          <p:nvPr/>
        </p:nvSpPr>
        <p:spPr>
          <a:xfrm>
            <a:off x="685800" y="6438960"/>
            <a:ext cx="10820160" cy="9000"/>
          </a:xfrm>
          <a:prstGeom prst="rect">
            <a:avLst/>
          </a:prstGeom>
          <a:solidFill>
            <a:srgbClr val="C4D1D5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"/>
          <p:cNvSpPr/>
          <p:nvPr/>
        </p:nvSpPr>
        <p:spPr>
          <a:xfrm>
            <a:off x="685800" y="6534000"/>
            <a:ext cx="838152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4B5C68"/>
                </a:solidFill>
                <a:effectLst/>
                <a:uFillTx/>
                <a:latin typeface="Microsoft JhengHei"/>
                <a:ea typeface="Microsoft JhengHei"/>
              </a:rPr>
              <a:t>Source: train_pipeline.py, predict_pipeline.py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8" name=""/>
          <p:cNvSpPr/>
          <p:nvPr/>
        </p:nvSpPr>
        <p:spPr>
          <a:xfrm>
            <a:off x="11049120" y="6515280"/>
            <a:ext cx="456840" cy="1900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123A56"/>
                </a:solidFill>
                <a:effectLst/>
                <a:uFillTx/>
                <a:latin typeface="Cascadia Mono"/>
                <a:ea typeface="Cascadia Mono"/>
              </a:rPr>
              <a:t>07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7F8F4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kicker-08-marker"/>
          <p:cNvSpPr/>
          <p:nvPr/>
        </p:nvSpPr>
        <p:spPr>
          <a:xfrm>
            <a:off x="685800" y="495360"/>
            <a:ext cx="323640" cy="56880"/>
          </a:xfrm>
          <a:prstGeom prst="rect">
            <a:avLst/>
          </a:prstGeom>
          <a:solidFill>
            <a:srgbClr val="FF725F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12240" rIns="90000" bIns="122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kicker-08-label"/>
          <p:cNvSpPr/>
          <p:nvPr/>
        </p:nvSpPr>
        <p:spPr>
          <a:xfrm>
            <a:off x="1123920" y="419040"/>
            <a:ext cx="4952520" cy="2282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1908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1" u="none" strike="noStrike">
                <a:solidFill>
                  <a:srgbClr val="356B85"/>
                </a:solidFill>
                <a:effectLst/>
                <a:uFillTx/>
                <a:latin typeface="Microsoft JhengHei"/>
                <a:ea typeface="Microsoft JhengHei"/>
              </a:rPr>
              <a:t>SIMULATION / RETURN CURVE</a:t>
            </a:r>
            <a:endParaRPr lang="en-US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2" name=""/>
          <p:cNvSpPr/>
          <p:nvPr/>
        </p:nvSpPr>
        <p:spPr>
          <a:xfrm>
            <a:off x="685800" y="800280"/>
            <a:ext cx="10096200" cy="8949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TW" sz="2700" b="1" u="none" strike="noStrike">
                <a:solidFill>
                  <a:srgbClr val="071018"/>
                </a:solidFill>
                <a:effectLst/>
                <a:uFillTx/>
                <a:latin typeface="Microsoft JhengHei"/>
                <a:ea typeface="Microsoft JhengHei"/>
              </a:rPr>
              <a:t>推論結果：</a:t>
            </a:r>
            <a:r>
              <a:rPr lang="en-US" sz="2700" b="1" u="none" strike="noStrike">
                <a:solidFill>
                  <a:srgbClr val="071018"/>
                </a:solidFill>
                <a:effectLst/>
                <a:uFillTx/>
                <a:latin typeface="Microsoft JhengHei"/>
                <a:ea typeface="Microsoft JhengHei"/>
              </a:rPr>
              <a:t>Pair </a:t>
            </a:r>
            <a:r>
              <a:rPr lang="zh-TW" sz="2700" b="1" u="none" strike="noStrike">
                <a:solidFill>
                  <a:srgbClr val="071018"/>
                </a:solidFill>
                <a:effectLst/>
                <a:uFillTx/>
                <a:latin typeface="Microsoft JhengHei"/>
                <a:ea typeface="Microsoft JhengHei"/>
              </a:rPr>
              <a:t>報酬較高，</a:t>
            </a:r>
            <a:r>
              <a:rPr lang="en-US" sz="2700" b="1" u="none" strike="noStrike">
                <a:solidFill>
                  <a:srgbClr val="071018"/>
                </a:solidFill>
                <a:effectLst/>
                <a:uFillTx/>
                <a:latin typeface="Microsoft JhengHei"/>
                <a:ea typeface="Microsoft JhengHei"/>
              </a:rPr>
              <a:t>Basket </a:t>
            </a:r>
            <a:r>
              <a:rPr lang="zh-TW" sz="2700" b="1" u="none" strike="noStrike">
                <a:solidFill>
                  <a:srgbClr val="071018"/>
                </a:solidFill>
                <a:effectLst/>
                <a:uFillTx/>
                <a:latin typeface="Microsoft JhengHei"/>
                <a:ea typeface="Microsoft JhengHei"/>
              </a:rPr>
              <a:t>淨值走勢較平穩。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3" name=""/>
          <p:cNvSpPr/>
          <p:nvPr/>
        </p:nvSpPr>
        <p:spPr>
          <a:xfrm>
            <a:off x="685800" y="1762200"/>
            <a:ext cx="7524360" cy="4095360"/>
          </a:xfrm>
          <a:prstGeom prst="rect">
            <a:avLst/>
          </a:prstGeom>
          <a:solidFill>
            <a:srgbClr val="FFFFFF"/>
          </a:solidFill>
          <a:ln w="9525">
            <a:solidFill>
              <a:srgbClr val="C4D1D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4" name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876240" y="1952640"/>
            <a:ext cx="7143480" cy="3666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5" name=""/>
          <p:cNvSpPr/>
          <p:nvPr/>
        </p:nvSpPr>
        <p:spPr>
          <a:xfrm>
            <a:off x="8524800" y="1762200"/>
            <a:ext cx="2980800" cy="4095360"/>
          </a:xfrm>
          <a:prstGeom prst="rect">
            <a:avLst/>
          </a:prstGeom>
          <a:solidFill>
            <a:srgbClr val="EEF4F3"/>
          </a:solidFill>
          <a:ln w="9525">
            <a:solidFill>
              <a:srgbClr val="C4D1D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"/>
          <p:cNvSpPr/>
          <p:nvPr/>
        </p:nvSpPr>
        <p:spPr>
          <a:xfrm>
            <a:off x="8810640" y="2076480"/>
            <a:ext cx="2095200" cy="2854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TW" sz="1870" b="1" u="none" strike="noStrike">
                <a:solidFill>
                  <a:srgbClr val="123A56"/>
                </a:solidFill>
                <a:effectLst/>
                <a:uFillTx/>
                <a:latin typeface="Microsoft JhengHei"/>
                <a:ea typeface="Microsoft JhengHei"/>
              </a:rPr>
              <a:t>台股常用解讀</a:t>
            </a:r>
            <a:endParaRPr lang="en-US" sz="18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7" name=""/>
          <p:cNvSpPr/>
          <p:nvPr/>
        </p:nvSpPr>
        <p:spPr>
          <a:xfrm>
            <a:off x="8810640" y="2685960"/>
            <a:ext cx="1238040" cy="2282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TW" sz="1350" b="1" u="none" strike="noStrike">
                <a:solidFill>
                  <a:srgbClr val="FF725F"/>
                </a:solidFill>
                <a:effectLst/>
                <a:uFillTx/>
                <a:latin typeface="Microsoft JhengHei"/>
                <a:ea typeface="Microsoft JhengHei"/>
              </a:rPr>
              <a:t>累積報酬率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8" name=""/>
          <p:cNvSpPr/>
          <p:nvPr/>
        </p:nvSpPr>
        <p:spPr>
          <a:xfrm>
            <a:off x="8810640" y="2952720"/>
            <a:ext cx="2190240" cy="4377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B5C68"/>
                </a:solidFill>
                <a:effectLst/>
                <a:uFillTx/>
                <a:latin typeface="Microsoft JhengHei"/>
                <a:ea typeface="Microsoft JhengHei"/>
              </a:rPr>
              <a:t>Pair +84.92%</a:t>
            </a:r>
            <a:r>
              <a:rPr lang="zh-TW" sz="1050" b="0" u="none" strike="noStrike">
                <a:solidFill>
                  <a:srgbClr val="4B5C68"/>
                </a:solidFill>
                <a:effectLst/>
                <a:uFillTx/>
                <a:latin typeface="Microsoft JhengHei"/>
                <a:ea typeface="Microsoft JhengHei"/>
              </a:rPr>
              <a:t>；</a:t>
            </a:r>
            <a:r>
              <a:rPr lang="en-US" sz="1050" b="0" u="none" strike="noStrike">
                <a:solidFill>
                  <a:srgbClr val="4B5C68"/>
                </a:solidFill>
                <a:effectLst/>
                <a:uFillTx/>
                <a:latin typeface="Microsoft JhengHei"/>
                <a:ea typeface="Microsoft JhengHei"/>
              </a:rPr>
              <a:t>Basket +42.02%</a:t>
            </a:r>
            <a:r>
              <a:rPr lang="zh-TW" sz="1050" b="0" u="none" strike="noStrike">
                <a:solidFill>
                  <a:srgbClr val="4B5C68"/>
                </a:solidFill>
                <a:effectLst/>
                <a:uFillTx/>
                <a:latin typeface="Microsoft JhengHei"/>
                <a:ea typeface="Microsoft JhengHei"/>
              </a:rPr>
              <a:t>。代表期末淨值相對初始本金的增加幅度。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9" name=""/>
          <p:cNvSpPr/>
          <p:nvPr/>
        </p:nvSpPr>
        <p:spPr>
          <a:xfrm>
            <a:off x="8810640" y="3619440"/>
            <a:ext cx="1523520" cy="2282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TW" sz="1350" b="1" u="none" strike="noStrike">
                <a:solidFill>
                  <a:srgbClr val="356B85"/>
                </a:solidFill>
                <a:effectLst/>
                <a:uFillTx/>
                <a:latin typeface="Microsoft JhengHei"/>
                <a:ea typeface="Microsoft JhengHei"/>
              </a:rPr>
              <a:t>風險調整後報酬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0" name=""/>
          <p:cNvSpPr/>
          <p:nvPr/>
        </p:nvSpPr>
        <p:spPr>
          <a:xfrm>
            <a:off x="8810640" y="3886200"/>
            <a:ext cx="2190240" cy="5140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B5C68"/>
                </a:solidFill>
                <a:effectLst/>
                <a:uFillTx/>
                <a:latin typeface="Microsoft JhengHei"/>
                <a:ea typeface="Microsoft JhengHei"/>
              </a:rPr>
              <a:t>Sharpe Ratio</a:t>
            </a:r>
            <a:r>
              <a:rPr lang="zh-TW" sz="1050" b="0" u="none" strike="noStrike">
                <a:solidFill>
                  <a:srgbClr val="4B5C68"/>
                </a:solidFill>
                <a:effectLst/>
                <a:uFillTx/>
                <a:latin typeface="Microsoft JhengHei"/>
                <a:ea typeface="Microsoft JhengHei"/>
              </a:rPr>
              <a:t>：</a:t>
            </a:r>
            <a:r>
              <a:rPr lang="en-US" sz="1050" b="0" u="none" strike="noStrike">
                <a:solidFill>
                  <a:srgbClr val="4B5C68"/>
                </a:solidFill>
                <a:effectLst/>
                <a:uFillTx/>
                <a:latin typeface="Microsoft JhengHei"/>
                <a:ea typeface="Microsoft JhengHei"/>
              </a:rPr>
              <a:t>Pair 1.84</a:t>
            </a:r>
            <a:r>
              <a:rPr lang="zh-TW" sz="1050" b="0" u="none" strike="noStrike">
                <a:solidFill>
                  <a:srgbClr val="4B5C68"/>
                </a:solidFill>
                <a:effectLst/>
                <a:uFillTx/>
                <a:latin typeface="Microsoft JhengHei"/>
                <a:ea typeface="Microsoft JhengHei"/>
              </a:rPr>
              <a:t>、</a:t>
            </a:r>
            <a:r>
              <a:rPr lang="en-US" sz="1050" b="0" u="none" strike="noStrike">
                <a:solidFill>
                  <a:srgbClr val="4B5C68"/>
                </a:solidFill>
                <a:effectLst/>
                <a:uFillTx/>
                <a:latin typeface="Microsoft JhengHei"/>
                <a:ea typeface="Microsoft JhengHei"/>
              </a:rPr>
              <a:t>Basket 1.41</a:t>
            </a:r>
            <a:r>
              <a:rPr lang="zh-TW" sz="1050" b="0" u="none" strike="noStrike">
                <a:solidFill>
                  <a:srgbClr val="4B5C68"/>
                </a:solidFill>
                <a:effectLst/>
                <a:uFillTx/>
                <a:latin typeface="Microsoft JhengHei"/>
                <a:ea typeface="Microsoft JhengHei"/>
              </a:rPr>
              <a:t>；數值越高，代表承擔波動後的報酬效率越好。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1" name=""/>
          <p:cNvSpPr/>
          <p:nvPr/>
        </p:nvSpPr>
        <p:spPr>
          <a:xfrm>
            <a:off x="8810640" y="4686480"/>
            <a:ext cx="1238040" cy="2282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TW" sz="1350" b="1" u="none" strike="noStrike">
                <a:solidFill>
                  <a:srgbClr val="C44536"/>
                </a:solidFill>
                <a:effectLst/>
                <a:uFillTx/>
                <a:latin typeface="Microsoft JhengHei"/>
                <a:ea typeface="Microsoft JhengHei"/>
              </a:rPr>
              <a:t>最大回撤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2" name=""/>
          <p:cNvSpPr/>
          <p:nvPr/>
        </p:nvSpPr>
        <p:spPr>
          <a:xfrm>
            <a:off x="8810640" y="4952880"/>
            <a:ext cx="2190240" cy="4568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B5C68"/>
                </a:solidFill>
                <a:effectLst/>
                <a:uFillTx/>
                <a:latin typeface="Microsoft JhengHei"/>
                <a:ea typeface="Microsoft JhengHei"/>
              </a:rPr>
              <a:t>Pair -26.72%</a:t>
            </a:r>
            <a:r>
              <a:rPr lang="zh-TW" sz="1050" b="0" u="none" strike="noStrike">
                <a:solidFill>
                  <a:srgbClr val="4B5C68"/>
                </a:solidFill>
                <a:effectLst/>
                <a:uFillTx/>
                <a:latin typeface="Microsoft JhengHei"/>
                <a:ea typeface="Microsoft JhengHei"/>
              </a:rPr>
              <a:t>；</a:t>
            </a:r>
            <a:r>
              <a:rPr lang="en-US" sz="1050" b="0" u="none" strike="noStrike">
                <a:solidFill>
                  <a:srgbClr val="4B5C68"/>
                </a:solidFill>
                <a:effectLst/>
                <a:uFillTx/>
                <a:latin typeface="Microsoft JhengHei"/>
                <a:ea typeface="Microsoft JhengHei"/>
              </a:rPr>
              <a:t>Basket -10.45%</a:t>
            </a:r>
            <a:r>
              <a:rPr lang="zh-TW" sz="1050" b="0" u="none" strike="noStrike">
                <a:solidFill>
                  <a:srgbClr val="4B5C68"/>
                </a:solidFill>
                <a:effectLst/>
                <a:uFillTx/>
                <a:latin typeface="Microsoft JhengHei"/>
                <a:ea typeface="Microsoft JhengHei"/>
              </a:rPr>
              <a:t>。</a:t>
            </a:r>
            <a:r>
              <a:rPr lang="en-US" sz="1050" b="0" u="none" strike="noStrike">
                <a:solidFill>
                  <a:srgbClr val="4B5C68"/>
                </a:solidFill>
                <a:effectLst/>
                <a:uFillTx/>
                <a:latin typeface="Microsoft JhengHei"/>
                <a:ea typeface="Microsoft JhengHei"/>
              </a:rPr>
              <a:t>Basket </a:t>
            </a:r>
            <a:r>
              <a:rPr lang="zh-TW" sz="1050" b="0" u="none" strike="noStrike">
                <a:solidFill>
                  <a:srgbClr val="4B5C68"/>
                </a:solidFill>
                <a:effectLst/>
                <a:uFillTx/>
                <a:latin typeface="Microsoft JhengHei"/>
                <a:ea typeface="Microsoft JhengHei"/>
              </a:rPr>
              <a:t>報酬較低，但下跌風險明顯較小。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3" name=""/>
          <p:cNvSpPr/>
          <p:nvPr/>
        </p:nvSpPr>
        <p:spPr>
          <a:xfrm>
            <a:off x="685800" y="6438960"/>
            <a:ext cx="10820160" cy="9000"/>
          </a:xfrm>
          <a:prstGeom prst="rect">
            <a:avLst/>
          </a:prstGeom>
          <a:solidFill>
            <a:srgbClr val="C4D1D5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"/>
          <p:cNvSpPr/>
          <p:nvPr/>
        </p:nvSpPr>
        <p:spPr>
          <a:xfrm>
            <a:off x="685800" y="6534000"/>
            <a:ext cx="838152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4B5C68"/>
                </a:solidFill>
                <a:effectLst/>
                <a:uFillTx/>
                <a:latin typeface="Microsoft JhengHei"/>
                <a:ea typeface="Microsoft JhengHei"/>
              </a:rPr>
              <a:t>Source: predict_pipeline.py run on 2026-06-07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5" name=""/>
          <p:cNvSpPr/>
          <p:nvPr/>
        </p:nvSpPr>
        <p:spPr>
          <a:xfrm>
            <a:off x="11049120" y="6515280"/>
            <a:ext cx="456840" cy="1900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123A56"/>
                </a:solidFill>
                <a:effectLst/>
                <a:uFillTx/>
                <a:latin typeface="Cascadia Mono"/>
                <a:ea typeface="Cascadia Mono"/>
              </a:rPr>
              <a:t>08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7F8F4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kicker-09-marker"/>
          <p:cNvSpPr/>
          <p:nvPr/>
        </p:nvSpPr>
        <p:spPr>
          <a:xfrm>
            <a:off x="685800" y="495360"/>
            <a:ext cx="323640" cy="56880"/>
          </a:xfrm>
          <a:prstGeom prst="rect">
            <a:avLst/>
          </a:prstGeom>
          <a:solidFill>
            <a:srgbClr val="FF725F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12240" rIns="90000" bIns="122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8" name="kicker-09-label"/>
          <p:cNvSpPr/>
          <p:nvPr/>
        </p:nvSpPr>
        <p:spPr>
          <a:xfrm>
            <a:off x="1123920" y="419040"/>
            <a:ext cx="4952520" cy="2282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1908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1" u="none" strike="noStrike">
                <a:solidFill>
                  <a:srgbClr val="356B85"/>
                </a:solidFill>
                <a:effectLst/>
                <a:uFillTx/>
                <a:latin typeface="Microsoft JhengHei"/>
                <a:ea typeface="Microsoft JhengHei"/>
              </a:rPr>
              <a:t>SIMULATION / RESULT SUMMARY</a:t>
            </a:r>
            <a:endParaRPr lang="en-US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9" name=""/>
          <p:cNvSpPr/>
          <p:nvPr/>
        </p:nvSpPr>
        <p:spPr>
          <a:xfrm>
            <a:off x="685800" y="800280"/>
            <a:ext cx="10096200" cy="8949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TW" sz="2700" b="1" u="none" strike="noStrike">
                <a:solidFill>
                  <a:srgbClr val="071018"/>
                </a:solidFill>
                <a:effectLst/>
                <a:uFillTx/>
                <a:latin typeface="Microsoft JhengHei"/>
                <a:ea typeface="Microsoft JhengHei"/>
              </a:rPr>
              <a:t>績效報告重點：高報酬與低回撤無法同時最大化，需看策略目的。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0" name=""/>
          <p:cNvSpPr/>
          <p:nvPr/>
        </p:nvSpPr>
        <p:spPr>
          <a:xfrm>
            <a:off x="685800" y="1809720"/>
            <a:ext cx="10286640" cy="2857320"/>
          </a:xfrm>
          <a:prstGeom prst="rect">
            <a:avLst/>
          </a:prstGeom>
          <a:solidFill>
            <a:srgbClr val="FFFFFF"/>
          </a:solidFill>
          <a:ln w="9525">
            <a:solidFill>
              <a:srgbClr val="C4D1D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"/>
          <p:cNvSpPr/>
          <p:nvPr/>
        </p:nvSpPr>
        <p:spPr>
          <a:xfrm>
            <a:off x="952560" y="2095560"/>
            <a:ext cx="3333240" cy="3045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70" b="1" u="none" strike="noStrike">
                <a:solidFill>
                  <a:srgbClr val="123A56"/>
                </a:solidFill>
                <a:effectLst/>
                <a:uFillTx/>
                <a:latin typeface="Microsoft JhengHei"/>
                <a:ea typeface="Microsoft JhengHei"/>
              </a:rPr>
              <a:t>Out-of-sample </a:t>
            </a:r>
            <a:r>
              <a:rPr lang="zh-TW" sz="1870" b="1" u="none" strike="noStrike">
                <a:solidFill>
                  <a:srgbClr val="123A56"/>
                </a:solidFill>
                <a:effectLst/>
                <a:uFillTx/>
                <a:latin typeface="Microsoft JhengHei"/>
                <a:ea typeface="Microsoft JhengHei"/>
              </a:rPr>
              <a:t>績效比較</a:t>
            </a:r>
            <a:endParaRPr lang="en-US" sz="18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2" name=""/>
          <p:cNvSpPr/>
          <p:nvPr/>
        </p:nvSpPr>
        <p:spPr>
          <a:xfrm>
            <a:off x="1143000" y="2781360"/>
            <a:ext cx="2381040" cy="2282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TW" sz="1280" b="1" u="none" strike="noStrike">
                <a:solidFill>
                  <a:srgbClr val="071018"/>
                </a:solidFill>
                <a:effectLst/>
                <a:uFillTx/>
                <a:latin typeface="Microsoft JhengHei"/>
                <a:ea typeface="Microsoft JhengHei"/>
              </a:rPr>
              <a:t>累積報酬率 </a:t>
            </a:r>
            <a:r>
              <a:rPr lang="en-US" sz="1280" b="1" u="none" strike="noStrike">
                <a:solidFill>
                  <a:srgbClr val="071018"/>
                </a:solidFill>
                <a:effectLst/>
                <a:uFillTx/>
                <a:latin typeface="Microsoft JhengHei"/>
                <a:ea typeface="Microsoft JhengHei"/>
              </a:rPr>
              <a:t>/ Pair</a:t>
            </a:r>
            <a:endParaRPr lang="en-US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3" name=""/>
          <p:cNvSpPr/>
          <p:nvPr/>
        </p:nvSpPr>
        <p:spPr>
          <a:xfrm>
            <a:off x="3714840" y="2828880"/>
            <a:ext cx="3428640" cy="151920"/>
          </a:xfrm>
          <a:prstGeom prst="rect">
            <a:avLst/>
          </a:prstGeom>
          <a:solidFill>
            <a:srgbClr val="D8E6E8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"/>
          <p:cNvSpPr/>
          <p:nvPr/>
        </p:nvSpPr>
        <p:spPr>
          <a:xfrm>
            <a:off x="3714840" y="2828880"/>
            <a:ext cx="3428640" cy="151920"/>
          </a:xfrm>
          <a:prstGeom prst="rect">
            <a:avLst/>
          </a:prstGeom>
          <a:solidFill>
            <a:srgbClr val="FF725F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5" name=""/>
          <p:cNvSpPr/>
          <p:nvPr/>
        </p:nvSpPr>
        <p:spPr>
          <a:xfrm>
            <a:off x="7334280" y="2762280"/>
            <a:ext cx="856800" cy="2282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1" u="none" strike="noStrike">
                <a:solidFill>
                  <a:srgbClr val="FF725F"/>
                </a:solidFill>
                <a:effectLst/>
                <a:uFillTx/>
                <a:latin typeface="Cascadia Mono"/>
                <a:ea typeface="Cascadia Mono"/>
              </a:rPr>
              <a:t>84.92%</a:t>
            </a:r>
            <a:endParaRPr lang="en-US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6" name=""/>
          <p:cNvSpPr/>
          <p:nvPr/>
        </p:nvSpPr>
        <p:spPr>
          <a:xfrm>
            <a:off x="1143000" y="3257640"/>
            <a:ext cx="2381040" cy="2282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TW" sz="1280" b="1" u="none" strike="noStrike">
                <a:solidFill>
                  <a:srgbClr val="071018"/>
                </a:solidFill>
                <a:effectLst/>
                <a:uFillTx/>
                <a:latin typeface="Microsoft JhengHei"/>
                <a:ea typeface="Microsoft JhengHei"/>
              </a:rPr>
              <a:t>累積報酬率 </a:t>
            </a:r>
            <a:r>
              <a:rPr lang="en-US" sz="1280" b="1" u="none" strike="noStrike">
                <a:solidFill>
                  <a:srgbClr val="071018"/>
                </a:solidFill>
                <a:effectLst/>
                <a:uFillTx/>
                <a:latin typeface="Microsoft JhengHei"/>
                <a:ea typeface="Microsoft JhengHei"/>
              </a:rPr>
              <a:t>/ Basket</a:t>
            </a:r>
            <a:endParaRPr lang="en-US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7" name=""/>
          <p:cNvSpPr/>
          <p:nvPr/>
        </p:nvSpPr>
        <p:spPr>
          <a:xfrm>
            <a:off x="3714840" y="3305160"/>
            <a:ext cx="3428640" cy="151920"/>
          </a:xfrm>
          <a:prstGeom prst="rect">
            <a:avLst/>
          </a:prstGeom>
          <a:solidFill>
            <a:srgbClr val="D8E6E8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"/>
          <p:cNvSpPr/>
          <p:nvPr/>
        </p:nvSpPr>
        <p:spPr>
          <a:xfrm>
            <a:off x="3714840" y="3305160"/>
            <a:ext cx="1697040" cy="151920"/>
          </a:xfrm>
          <a:prstGeom prst="rect">
            <a:avLst/>
          </a:prstGeom>
          <a:solidFill>
            <a:srgbClr val="356B85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9" name=""/>
          <p:cNvSpPr/>
          <p:nvPr/>
        </p:nvSpPr>
        <p:spPr>
          <a:xfrm>
            <a:off x="7334280" y="3238560"/>
            <a:ext cx="856800" cy="2282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1" u="none" strike="noStrike">
                <a:solidFill>
                  <a:srgbClr val="356B85"/>
                </a:solidFill>
                <a:effectLst/>
                <a:uFillTx/>
                <a:latin typeface="Cascadia Mono"/>
                <a:ea typeface="Cascadia Mono"/>
              </a:rPr>
              <a:t>42.02%</a:t>
            </a:r>
            <a:endParaRPr lang="en-US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0" name=""/>
          <p:cNvSpPr/>
          <p:nvPr/>
        </p:nvSpPr>
        <p:spPr>
          <a:xfrm>
            <a:off x="1143000" y="3828960"/>
            <a:ext cx="2381040" cy="2282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1" u="none" strike="noStrike">
                <a:solidFill>
                  <a:srgbClr val="071018"/>
                </a:solidFill>
                <a:effectLst/>
                <a:uFillTx/>
                <a:latin typeface="Microsoft JhengHei"/>
                <a:ea typeface="Microsoft JhengHei"/>
              </a:rPr>
              <a:t>Sharpe Ratio / Pair</a:t>
            </a:r>
            <a:endParaRPr lang="en-US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1" name=""/>
          <p:cNvSpPr/>
          <p:nvPr/>
        </p:nvSpPr>
        <p:spPr>
          <a:xfrm>
            <a:off x="3714840" y="3876840"/>
            <a:ext cx="3428640" cy="151920"/>
          </a:xfrm>
          <a:prstGeom prst="rect">
            <a:avLst/>
          </a:prstGeom>
          <a:solidFill>
            <a:srgbClr val="D8E6E8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"/>
          <p:cNvSpPr/>
          <p:nvPr/>
        </p:nvSpPr>
        <p:spPr>
          <a:xfrm>
            <a:off x="3714840" y="3876840"/>
            <a:ext cx="3428640" cy="151920"/>
          </a:xfrm>
          <a:prstGeom prst="rect">
            <a:avLst/>
          </a:prstGeom>
          <a:solidFill>
            <a:srgbClr val="FF725F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3" name=""/>
          <p:cNvSpPr/>
          <p:nvPr/>
        </p:nvSpPr>
        <p:spPr>
          <a:xfrm>
            <a:off x="7334280" y="3809880"/>
            <a:ext cx="856800" cy="2282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1" u="none" strike="noStrike">
                <a:solidFill>
                  <a:srgbClr val="FF725F"/>
                </a:solidFill>
                <a:effectLst/>
                <a:uFillTx/>
                <a:latin typeface="Cascadia Mono"/>
                <a:ea typeface="Cascadia Mono"/>
              </a:rPr>
              <a:t>1.84</a:t>
            </a:r>
            <a:endParaRPr lang="en-US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4" name=""/>
          <p:cNvSpPr/>
          <p:nvPr/>
        </p:nvSpPr>
        <p:spPr>
          <a:xfrm>
            <a:off x="1143000" y="4305240"/>
            <a:ext cx="2381040" cy="2282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1" u="none" strike="noStrike">
                <a:solidFill>
                  <a:srgbClr val="071018"/>
                </a:solidFill>
                <a:effectLst/>
                <a:uFillTx/>
                <a:latin typeface="Microsoft JhengHei"/>
                <a:ea typeface="Microsoft JhengHei"/>
              </a:rPr>
              <a:t>Sharpe Ratio / Basket</a:t>
            </a:r>
            <a:endParaRPr lang="en-US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5" name=""/>
          <p:cNvSpPr/>
          <p:nvPr/>
        </p:nvSpPr>
        <p:spPr>
          <a:xfrm>
            <a:off x="3714840" y="4352760"/>
            <a:ext cx="3428640" cy="151920"/>
          </a:xfrm>
          <a:prstGeom prst="rect">
            <a:avLst/>
          </a:prstGeom>
          <a:solidFill>
            <a:srgbClr val="D8E6E8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"/>
          <p:cNvSpPr/>
          <p:nvPr/>
        </p:nvSpPr>
        <p:spPr>
          <a:xfrm>
            <a:off x="3714840" y="4352760"/>
            <a:ext cx="2626200" cy="151920"/>
          </a:xfrm>
          <a:prstGeom prst="rect">
            <a:avLst/>
          </a:prstGeom>
          <a:solidFill>
            <a:srgbClr val="356B85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7" name=""/>
          <p:cNvSpPr/>
          <p:nvPr/>
        </p:nvSpPr>
        <p:spPr>
          <a:xfrm>
            <a:off x="7334280" y="4286160"/>
            <a:ext cx="856800" cy="2282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1" u="none" strike="noStrike">
                <a:solidFill>
                  <a:srgbClr val="356B85"/>
                </a:solidFill>
                <a:effectLst/>
                <a:uFillTx/>
                <a:latin typeface="Cascadia Mono"/>
                <a:ea typeface="Cascadia Mono"/>
              </a:rPr>
              <a:t>1.41</a:t>
            </a:r>
            <a:endParaRPr lang="en-US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8" name=""/>
          <p:cNvSpPr/>
          <p:nvPr/>
        </p:nvSpPr>
        <p:spPr>
          <a:xfrm>
            <a:off x="685800" y="5029200"/>
            <a:ext cx="3142800" cy="723600"/>
          </a:xfrm>
          <a:prstGeom prst="rect">
            <a:avLst/>
          </a:prstGeom>
          <a:solidFill>
            <a:srgbClr val="EEF4F3"/>
          </a:solidFill>
          <a:ln w="9525">
            <a:solidFill>
              <a:srgbClr val="C4D1D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"/>
          <p:cNvSpPr/>
          <p:nvPr/>
        </p:nvSpPr>
        <p:spPr>
          <a:xfrm>
            <a:off x="914400" y="5181480"/>
            <a:ext cx="1904760" cy="209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FF725F"/>
                </a:solidFill>
                <a:effectLst/>
                <a:uFillTx/>
                <a:latin typeface="Microsoft JhengHei"/>
                <a:ea typeface="Microsoft JhengHei"/>
              </a:rPr>
              <a:t>Pair </a:t>
            </a:r>
            <a:r>
              <a:rPr lang="zh-TW" sz="1350" b="1" u="none" strike="noStrike">
                <a:solidFill>
                  <a:srgbClr val="FF725F"/>
                </a:solidFill>
                <a:effectLst/>
                <a:uFillTx/>
                <a:latin typeface="Microsoft JhengHei"/>
                <a:ea typeface="Microsoft JhengHei"/>
              </a:rPr>
              <a:t>適合的敘述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0" name=""/>
          <p:cNvSpPr/>
          <p:nvPr/>
        </p:nvSpPr>
        <p:spPr>
          <a:xfrm>
            <a:off x="914400" y="5467320"/>
            <a:ext cx="2476080" cy="209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TW" sz="1050" b="0" u="none" strike="noStrike">
                <a:solidFill>
                  <a:srgbClr val="4B5C68"/>
                </a:solidFill>
                <a:effectLst/>
                <a:uFillTx/>
                <a:latin typeface="Microsoft JhengHei"/>
                <a:ea typeface="Microsoft JhengHei"/>
              </a:rPr>
              <a:t>報酬率最高，但最大回撤較深，代表承受波動較大。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1" name=""/>
          <p:cNvSpPr/>
          <p:nvPr/>
        </p:nvSpPr>
        <p:spPr>
          <a:xfrm>
            <a:off x="4305240" y="5029200"/>
            <a:ext cx="3142800" cy="723600"/>
          </a:xfrm>
          <a:prstGeom prst="rect">
            <a:avLst/>
          </a:prstGeom>
          <a:solidFill>
            <a:srgbClr val="EEF4F3"/>
          </a:solidFill>
          <a:ln w="9525">
            <a:solidFill>
              <a:srgbClr val="C4D1D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"/>
          <p:cNvSpPr/>
          <p:nvPr/>
        </p:nvSpPr>
        <p:spPr>
          <a:xfrm>
            <a:off x="4533840" y="5181480"/>
            <a:ext cx="1904760" cy="209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356B85"/>
                </a:solidFill>
                <a:effectLst/>
                <a:uFillTx/>
                <a:latin typeface="Microsoft JhengHei"/>
                <a:ea typeface="Microsoft JhengHei"/>
              </a:rPr>
              <a:t>Basket </a:t>
            </a:r>
            <a:r>
              <a:rPr lang="zh-TW" sz="1350" b="1" u="none" strike="noStrike">
                <a:solidFill>
                  <a:srgbClr val="356B85"/>
                </a:solidFill>
                <a:effectLst/>
                <a:uFillTx/>
                <a:latin typeface="Microsoft JhengHei"/>
                <a:ea typeface="Microsoft JhengHei"/>
              </a:rPr>
              <a:t>適合的敘述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3" name=""/>
          <p:cNvSpPr/>
          <p:nvPr/>
        </p:nvSpPr>
        <p:spPr>
          <a:xfrm>
            <a:off x="4533840" y="5467320"/>
            <a:ext cx="2476080" cy="209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TW" sz="1050" b="0" u="none" strike="noStrike">
                <a:solidFill>
                  <a:srgbClr val="4B5C68"/>
                </a:solidFill>
                <a:effectLst/>
                <a:uFillTx/>
                <a:latin typeface="Microsoft JhengHei"/>
                <a:ea typeface="Microsoft JhengHei"/>
              </a:rPr>
              <a:t>報酬率較低，但最大回撤較小，資金曲線較穩。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4" name=""/>
          <p:cNvSpPr/>
          <p:nvPr/>
        </p:nvSpPr>
        <p:spPr>
          <a:xfrm>
            <a:off x="7924680" y="5029200"/>
            <a:ext cx="3047760" cy="723600"/>
          </a:xfrm>
          <a:prstGeom prst="rect">
            <a:avLst/>
          </a:prstGeom>
          <a:solidFill>
            <a:srgbClr val="123A56"/>
          </a:solidFill>
          <a:ln w="9525">
            <a:solidFill>
              <a:srgbClr val="123A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5" name=""/>
          <p:cNvSpPr/>
          <p:nvPr/>
        </p:nvSpPr>
        <p:spPr>
          <a:xfrm>
            <a:off x="8153280" y="5257800"/>
            <a:ext cx="2476080" cy="3045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TW" sz="1200" b="1" u="none" strike="noStrike">
                <a:solidFill>
                  <a:srgbClr val="FFFFFF"/>
                </a:solidFill>
                <a:effectLst/>
                <a:uFillTx/>
                <a:latin typeface="Microsoft JhengHei"/>
                <a:ea typeface="Microsoft JhengHei"/>
              </a:rPr>
              <a:t>期末淨值：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Microsoft JhengHei"/>
                <a:ea typeface="Microsoft JhengHei"/>
              </a:rPr>
              <a:t>Pair NTD 1.849M</a:t>
            </a:r>
            <a:r>
              <a:rPr lang="zh-TW" sz="1200" b="1" u="none" strike="noStrike">
                <a:solidFill>
                  <a:srgbClr val="FFFFFF"/>
                </a:solidFill>
                <a:effectLst/>
                <a:uFillTx/>
                <a:latin typeface="Microsoft JhengHei"/>
                <a:ea typeface="Microsoft JhengHei"/>
              </a:rPr>
              <a:t>；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Microsoft JhengHei"/>
                <a:ea typeface="Microsoft JhengHei"/>
              </a:rPr>
              <a:t>Basket NTD 1.420M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6" name=""/>
          <p:cNvSpPr/>
          <p:nvPr/>
        </p:nvSpPr>
        <p:spPr>
          <a:xfrm>
            <a:off x="685800" y="6438960"/>
            <a:ext cx="10820160" cy="9000"/>
          </a:xfrm>
          <a:prstGeom prst="rect">
            <a:avLst/>
          </a:prstGeom>
          <a:solidFill>
            <a:srgbClr val="C4D1D5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"/>
          <p:cNvSpPr/>
          <p:nvPr/>
        </p:nvSpPr>
        <p:spPr>
          <a:xfrm>
            <a:off x="685800" y="6534000"/>
            <a:ext cx="838152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4B5C68"/>
                </a:solidFill>
                <a:effectLst/>
                <a:uFillTx/>
                <a:latin typeface="Microsoft JhengHei"/>
                <a:ea typeface="Microsoft JhengHei"/>
              </a:rPr>
              <a:t>Source: predict_pipeline.py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8" name=""/>
          <p:cNvSpPr/>
          <p:nvPr/>
        </p:nvSpPr>
        <p:spPr>
          <a:xfrm>
            <a:off x="11049120" y="6515280"/>
            <a:ext cx="456840" cy="1900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123A56"/>
                </a:solidFill>
                <a:effectLst/>
                <a:uFillTx/>
                <a:latin typeface="Cascadia Mono"/>
                <a:ea typeface="Cascadia Mono"/>
              </a:rPr>
              <a:t>09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7F8F4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kicker-10-marker"/>
          <p:cNvSpPr/>
          <p:nvPr/>
        </p:nvSpPr>
        <p:spPr>
          <a:xfrm>
            <a:off x="685800" y="495360"/>
            <a:ext cx="323640" cy="56880"/>
          </a:xfrm>
          <a:prstGeom prst="rect">
            <a:avLst/>
          </a:prstGeom>
          <a:solidFill>
            <a:srgbClr val="FF725F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12240" rIns="90000" bIns="122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1" name="kicker-10-label"/>
          <p:cNvSpPr/>
          <p:nvPr/>
        </p:nvSpPr>
        <p:spPr>
          <a:xfrm>
            <a:off x="1123920" y="419040"/>
            <a:ext cx="4952520" cy="2282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1908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1" u="none" strike="noStrike">
                <a:solidFill>
                  <a:srgbClr val="356B85"/>
                </a:solidFill>
                <a:effectLst/>
                <a:uFillTx/>
                <a:latin typeface="Microsoft JhengHei"/>
                <a:ea typeface="Microsoft JhengHei"/>
              </a:rPr>
              <a:t>CONCLUSION / FUTURE WORK</a:t>
            </a:r>
            <a:endParaRPr lang="en-US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2" name=""/>
          <p:cNvSpPr/>
          <p:nvPr/>
        </p:nvSpPr>
        <p:spPr>
          <a:xfrm>
            <a:off x="685800" y="800280"/>
            <a:ext cx="10096200" cy="9331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TW" sz="2700" b="1" u="none" strike="noStrike">
                <a:solidFill>
                  <a:srgbClr val="071018"/>
                </a:solidFill>
                <a:effectLst/>
                <a:uFillTx/>
                <a:latin typeface="Microsoft JhengHei"/>
                <a:ea typeface="Microsoft JhengHei"/>
              </a:rPr>
              <a:t>結論：目前系統已能完成訓練、推論與績效展示；後續要補強比較基準與穩健性。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3" name=""/>
          <p:cNvSpPr/>
          <p:nvPr/>
        </p:nvSpPr>
        <p:spPr>
          <a:xfrm>
            <a:off x="952560" y="2333520"/>
            <a:ext cx="2095200" cy="1999800"/>
          </a:xfrm>
          <a:prstGeom prst="rect">
            <a:avLst/>
          </a:prstGeom>
          <a:solidFill>
            <a:srgbClr val="FFFFFF"/>
          </a:solidFill>
          <a:ln w="9525">
            <a:solidFill>
              <a:srgbClr val="C4D1D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"/>
          <p:cNvSpPr/>
          <p:nvPr/>
        </p:nvSpPr>
        <p:spPr>
          <a:xfrm>
            <a:off x="1162080" y="2552760"/>
            <a:ext cx="399600" cy="3996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50" b="1" u="none" strike="noStrike">
                <a:solidFill>
                  <a:srgbClr val="FF725F"/>
                </a:solidFill>
                <a:effectLst/>
                <a:uFillTx/>
                <a:latin typeface="Cascadia Mono"/>
                <a:ea typeface="Cascadia Mono"/>
              </a:rPr>
              <a:t>1</a:t>
            </a:r>
            <a:endParaRPr lang="en-US" sz="2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5" name=""/>
          <p:cNvSpPr/>
          <p:nvPr/>
        </p:nvSpPr>
        <p:spPr>
          <a:xfrm>
            <a:off x="1162080" y="3105000"/>
            <a:ext cx="1618920" cy="2664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TW" sz="1500" b="1" u="none" strike="noStrike">
                <a:solidFill>
                  <a:srgbClr val="123A56"/>
                </a:solidFill>
                <a:effectLst/>
                <a:uFillTx/>
                <a:latin typeface="Microsoft JhengHei"/>
                <a:ea typeface="Microsoft JhengHei"/>
              </a:rPr>
              <a:t>加入比較基準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6" name=""/>
          <p:cNvSpPr/>
          <p:nvPr/>
        </p:nvSpPr>
        <p:spPr>
          <a:xfrm>
            <a:off x="1162080" y="3543480"/>
            <a:ext cx="1571400" cy="6663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TW" sz="1050" b="0" u="none" strike="noStrike">
                <a:solidFill>
                  <a:srgbClr val="4B5C68"/>
                </a:solidFill>
                <a:effectLst/>
                <a:uFillTx/>
                <a:latin typeface="Microsoft JhengHei"/>
                <a:ea typeface="Microsoft JhengHei"/>
              </a:rPr>
              <a:t>例如買進持有、等權重投資、固定 </a:t>
            </a:r>
            <a:r>
              <a:rPr lang="en-US" sz="1050" b="0" u="none" strike="noStrike">
                <a:solidFill>
                  <a:srgbClr val="4B5C68"/>
                </a:solidFill>
                <a:effectLst/>
                <a:uFillTx/>
                <a:latin typeface="Microsoft JhengHei"/>
                <a:ea typeface="Microsoft JhengHei"/>
              </a:rPr>
              <a:t>SMC </a:t>
            </a:r>
            <a:r>
              <a:rPr lang="zh-TW" sz="1050" b="0" u="none" strike="noStrike">
                <a:solidFill>
                  <a:srgbClr val="4B5C68"/>
                </a:solidFill>
                <a:effectLst/>
                <a:uFillTx/>
                <a:latin typeface="Microsoft JhengHei"/>
                <a:ea typeface="Microsoft JhengHei"/>
              </a:rPr>
              <a:t>規則、</a:t>
            </a:r>
            <a:r>
              <a:rPr lang="en-US" sz="1050" b="0" u="none" strike="noStrike">
                <a:solidFill>
                  <a:srgbClr val="4B5C68"/>
                </a:solidFill>
                <a:effectLst/>
                <a:uFillTx/>
                <a:latin typeface="Microsoft JhengHei"/>
                <a:ea typeface="Microsoft JhengHei"/>
              </a:rPr>
              <a:t>SARSA / DQN </a:t>
            </a:r>
            <a:r>
              <a:rPr lang="zh-TW" sz="1050" b="0" u="none" strike="noStrike">
                <a:solidFill>
                  <a:srgbClr val="4B5C68"/>
                </a:solidFill>
                <a:effectLst/>
                <a:uFillTx/>
                <a:latin typeface="Microsoft JhengHei"/>
                <a:ea typeface="Microsoft JhengHei"/>
              </a:rPr>
              <a:t>等模型。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7" name=""/>
          <p:cNvSpPr/>
          <p:nvPr/>
        </p:nvSpPr>
        <p:spPr>
          <a:xfrm>
            <a:off x="3095640" y="3371760"/>
            <a:ext cx="399600" cy="37800"/>
          </a:xfrm>
          <a:prstGeom prst="rect">
            <a:avLst/>
          </a:prstGeom>
          <a:solidFill>
            <a:srgbClr val="356B85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8" name=""/>
          <p:cNvSpPr/>
          <p:nvPr/>
        </p:nvSpPr>
        <p:spPr>
          <a:xfrm>
            <a:off x="3400560" y="3324240"/>
            <a:ext cx="132840" cy="132840"/>
          </a:xfrm>
          <a:prstGeom prst="rect">
            <a:avLst/>
          </a:prstGeom>
          <a:solidFill>
            <a:srgbClr val="356B85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9" name=""/>
          <p:cNvSpPr/>
          <p:nvPr/>
        </p:nvSpPr>
        <p:spPr>
          <a:xfrm>
            <a:off x="3571920" y="2333520"/>
            <a:ext cx="2095200" cy="1999800"/>
          </a:xfrm>
          <a:prstGeom prst="rect">
            <a:avLst/>
          </a:prstGeom>
          <a:solidFill>
            <a:srgbClr val="EEF4F3"/>
          </a:solidFill>
          <a:ln w="9525">
            <a:solidFill>
              <a:srgbClr val="C4D1D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"/>
          <p:cNvSpPr/>
          <p:nvPr/>
        </p:nvSpPr>
        <p:spPr>
          <a:xfrm>
            <a:off x="3781440" y="2552760"/>
            <a:ext cx="399600" cy="3996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50" b="1" u="none" strike="noStrike">
                <a:solidFill>
                  <a:srgbClr val="FF725F"/>
                </a:solidFill>
                <a:effectLst/>
                <a:uFillTx/>
                <a:latin typeface="Cascadia Mono"/>
                <a:ea typeface="Cascadia Mono"/>
              </a:rPr>
              <a:t>2</a:t>
            </a:r>
            <a:endParaRPr lang="en-US" sz="2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1" name=""/>
          <p:cNvSpPr/>
          <p:nvPr/>
        </p:nvSpPr>
        <p:spPr>
          <a:xfrm>
            <a:off x="3781440" y="3105000"/>
            <a:ext cx="1618920" cy="2664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TW" sz="1500" b="1" u="none" strike="noStrike">
                <a:solidFill>
                  <a:srgbClr val="123A56"/>
                </a:solidFill>
                <a:effectLst/>
                <a:uFillTx/>
                <a:latin typeface="Microsoft JhengHei"/>
                <a:ea typeface="Microsoft JhengHei"/>
              </a:rPr>
              <a:t>做穩健性驗證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2" name=""/>
          <p:cNvSpPr/>
          <p:nvPr/>
        </p:nvSpPr>
        <p:spPr>
          <a:xfrm>
            <a:off x="3781440" y="3543480"/>
            <a:ext cx="1571400" cy="6663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TW" sz="1050" b="0" u="none" strike="noStrike">
                <a:solidFill>
                  <a:srgbClr val="4B5C68"/>
                </a:solidFill>
                <a:effectLst/>
                <a:uFillTx/>
                <a:latin typeface="Microsoft JhengHei"/>
                <a:ea typeface="Microsoft JhengHei"/>
              </a:rPr>
              <a:t>用不同時間窗、不同交易成本、不同市場盤勢測試策略是否仍有效。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3" name=""/>
          <p:cNvSpPr/>
          <p:nvPr/>
        </p:nvSpPr>
        <p:spPr>
          <a:xfrm>
            <a:off x="5715000" y="3371760"/>
            <a:ext cx="399600" cy="37800"/>
          </a:xfrm>
          <a:prstGeom prst="rect">
            <a:avLst/>
          </a:prstGeom>
          <a:solidFill>
            <a:srgbClr val="356B85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4" name=""/>
          <p:cNvSpPr/>
          <p:nvPr/>
        </p:nvSpPr>
        <p:spPr>
          <a:xfrm>
            <a:off x="6019920" y="3324240"/>
            <a:ext cx="132840" cy="132840"/>
          </a:xfrm>
          <a:prstGeom prst="rect">
            <a:avLst/>
          </a:prstGeom>
          <a:solidFill>
            <a:srgbClr val="356B85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5" name=""/>
          <p:cNvSpPr/>
          <p:nvPr/>
        </p:nvSpPr>
        <p:spPr>
          <a:xfrm>
            <a:off x="6191280" y="2333520"/>
            <a:ext cx="2095200" cy="1999800"/>
          </a:xfrm>
          <a:prstGeom prst="rect">
            <a:avLst/>
          </a:prstGeom>
          <a:solidFill>
            <a:srgbClr val="FFFFFF"/>
          </a:solidFill>
          <a:ln w="9525">
            <a:solidFill>
              <a:srgbClr val="C4D1D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"/>
          <p:cNvSpPr/>
          <p:nvPr/>
        </p:nvSpPr>
        <p:spPr>
          <a:xfrm>
            <a:off x="6400800" y="2552760"/>
            <a:ext cx="399600" cy="3996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50" b="1" u="none" strike="noStrike">
                <a:solidFill>
                  <a:srgbClr val="FF725F"/>
                </a:solidFill>
                <a:effectLst/>
                <a:uFillTx/>
                <a:latin typeface="Cascadia Mono"/>
                <a:ea typeface="Cascadia Mono"/>
              </a:rPr>
              <a:t>3</a:t>
            </a:r>
            <a:endParaRPr lang="en-US" sz="2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7" name=""/>
          <p:cNvSpPr/>
          <p:nvPr/>
        </p:nvSpPr>
        <p:spPr>
          <a:xfrm>
            <a:off x="6400800" y="3105000"/>
            <a:ext cx="1618920" cy="2664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TW" sz="1500" b="1" u="none" strike="noStrike">
                <a:solidFill>
                  <a:srgbClr val="123A56"/>
                </a:solidFill>
                <a:effectLst/>
                <a:uFillTx/>
                <a:latin typeface="Microsoft JhengHei"/>
                <a:ea typeface="Microsoft JhengHei"/>
              </a:rPr>
              <a:t>提升可解釋性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8" name=""/>
          <p:cNvSpPr/>
          <p:nvPr/>
        </p:nvSpPr>
        <p:spPr>
          <a:xfrm>
            <a:off x="6400800" y="3543480"/>
            <a:ext cx="1571400" cy="6663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TW" sz="1050" b="0" u="none" strike="noStrike">
                <a:solidFill>
                  <a:srgbClr val="4B5C68"/>
                </a:solidFill>
                <a:effectLst/>
                <a:uFillTx/>
                <a:latin typeface="Microsoft JhengHei"/>
                <a:ea typeface="Microsoft JhengHei"/>
              </a:rPr>
              <a:t>分析 </a:t>
            </a:r>
            <a:r>
              <a:rPr lang="en-US" sz="1050" b="0" u="none" strike="noStrike">
                <a:solidFill>
                  <a:srgbClr val="4B5C68"/>
                </a:solidFill>
                <a:effectLst/>
                <a:uFillTx/>
                <a:latin typeface="Microsoft JhengHei"/>
                <a:ea typeface="Microsoft JhengHei"/>
              </a:rPr>
              <a:t>PPO action </a:t>
            </a:r>
            <a:r>
              <a:rPr lang="zh-TW" sz="1050" b="0" u="none" strike="noStrike">
                <a:solidFill>
                  <a:srgbClr val="4B5C68"/>
                </a:solidFill>
                <a:effectLst/>
                <a:uFillTx/>
                <a:latin typeface="Microsoft JhengHei"/>
                <a:ea typeface="Microsoft JhengHei"/>
              </a:rPr>
              <a:t>與 </a:t>
            </a:r>
            <a:r>
              <a:rPr lang="en-US" sz="1050" b="0" u="none" strike="noStrike">
                <a:solidFill>
                  <a:srgbClr val="4B5C68"/>
                </a:solidFill>
                <a:effectLst/>
                <a:uFillTx/>
                <a:latin typeface="Microsoft JhengHei"/>
                <a:ea typeface="Microsoft JhengHei"/>
              </a:rPr>
              <a:t>PD_Pos</a:t>
            </a:r>
            <a:r>
              <a:rPr lang="zh-TW" sz="1050" b="0" u="none" strike="noStrike">
                <a:solidFill>
                  <a:srgbClr val="4B5C68"/>
                </a:solidFill>
                <a:effectLst/>
                <a:uFillTx/>
                <a:latin typeface="Microsoft JhengHei"/>
                <a:ea typeface="Microsoft JhengHei"/>
              </a:rPr>
              <a:t>、</a:t>
            </a:r>
            <a:r>
              <a:rPr lang="en-US" sz="1050" b="0" u="none" strike="noStrike">
                <a:solidFill>
                  <a:srgbClr val="4B5C68"/>
                </a:solidFill>
                <a:effectLst/>
                <a:uFillTx/>
                <a:latin typeface="Microsoft JhengHei"/>
                <a:ea typeface="Microsoft JhengHei"/>
              </a:rPr>
              <a:t>OB_Dist</a:t>
            </a:r>
            <a:r>
              <a:rPr lang="zh-TW" sz="1050" b="0" u="none" strike="noStrike">
                <a:solidFill>
                  <a:srgbClr val="4B5C68"/>
                </a:solidFill>
                <a:effectLst/>
                <a:uFillTx/>
                <a:latin typeface="Microsoft JhengHei"/>
                <a:ea typeface="Microsoft JhengHei"/>
              </a:rPr>
              <a:t>、</a:t>
            </a:r>
            <a:r>
              <a:rPr lang="en-US" sz="1050" b="0" u="none" strike="noStrike">
                <a:solidFill>
                  <a:srgbClr val="4B5C68"/>
                </a:solidFill>
                <a:effectLst/>
                <a:uFillTx/>
                <a:latin typeface="Microsoft JhengHei"/>
                <a:ea typeface="Microsoft JhengHei"/>
              </a:rPr>
              <a:t>FVG</a:t>
            </a:r>
            <a:r>
              <a:rPr lang="zh-TW" sz="1050" b="0" u="none" strike="noStrike">
                <a:solidFill>
                  <a:srgbClr val="4B5C68"/>
                </a:solidFill>
                <a:effectLst/>
                <a:uFillTx/>
                <a:latin typeface="Microsoft JhengHei"/>
                <a:ea typeface="Microsoft JhengHei"/>
              </a:rPr>
              <a:t>、</a:t>
            </a:r>
            <a:r>
              <a:rPr lang="en-US" sz="1050" b="0" u="none" strike="noStrike">
                <a:solidFill>
                  <a:srgbClr val="4B5C68"/>
                </a:solidFill>
                <a:effectLst/>
                <a:uFillTx/>
                <a:latin typeface="Microsoft JhengHei"/>
                <a:ea typeface="Microsoft JhengHei"/>
              </a:rPr>
              <a:t>z-score </a:t>
            </a:r>
            <a:r>
              <a:rPr lang="zh-TW" sz="1050" b="0" u="none" strike="noStrike">
                <a:solidFill>
                  <a:srgbClr val="4B5C68"/>
                </a:solidFill>
                <a:effectLst/>
                <a:uFillTx/>
                <a:latin typeface="Microsoft JhengHei"/>
                <a:ea typeface="Microsoft JhengHei"/>
              </a:rPr>
              <a:t>的關係。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9" name=""/>
          <p:cNvSpPr/>
          <p:nvPr/>
        </p:nvSpPr>
        <p:spPr>
          <a:xfrm>
            <a:off x="8334360" y="3371760"/>
            <a:ext cx="399600" cy="37800"/>
          </a:xfrm>
          <a:prstGeom prst="rect">
            <a:avLst/>
          </a:prstGeom>
          <a:solidFill>
            <a:srgbClr val="356B85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0" name=""/>
          <p:cNvSpPr/>
          <p:nvPr/>
        </p:nvSpPr>
        <p:spPr>
          <a:xfrm>
            <a:off x="8639280" y="3324240"/>
            <a:ext cx="132840" cy="132840"/>
          </a:xfrm>
          <a:prstGeom prst="rect">
            <a:avLst/>
          </a:prstGeom>
          <a:solidFill>
            <a:srgbClr val="356B85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1" name=""/>
          <p:cNvSpPr/>
          <p:nvPr/>
        </p:nvSpPr>
        <p:spPr>
          <a:xfrm>
            <a:off x="8810640" y="2333520"/>
            <a:ext cx="2095200" cy="1999800"/>
          </a:xfrm>
          <a:prstGeom prst="rect">
            <a:avLst/>
          </a:prstGeom>
          <a:solidFill>
            <a:srgbClr val="EEF4F3"/>
          </a:solidFill>
          <a:ln w="9525">
            <a:solidFill>
              <a:srgbClr val="C4D1D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"/>
          <p:cNvSpPr/>
          <p:nvPr/>
        </p:nvSpPr>
        <p:spPr>
          <a:xfrm>
            <a:off x="9020160" y="2552760"/>
            <a:ext cx="399600" cy="3996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50" b="1" u="none" strike="noStrike">
                <a:solidFill>
                  <a:srgbClr val="FF725F"/>
                </a:solidFill>
                <a:effectLst/>
                <a:uFillTx/>
                <a:latin typeface="Cascadia Mono"/>
                <a:ea typeface="Cascadia Mono"/>
              </a:rPr>
              <a:t>4</a:t>
            </a:r>
            <a:endParaRPr lang="en-US" sz="2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3" name=""/>
          <p:cNvSpPr/>
          <p:nvPr/>
        </p:nvSpPr>
        <p:spPr>
          <a:xfrm>
            <a:off x="9020160" y="3105000"/>
            <a:ext cx="1618920" cy="2664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TW" sz="1500" b="1" u="none" strike="noStrike">
                <a:solidFill>
                  <a:srgbClr val="123A56"/>
                </a:solidFill>
                <a:effectLst/>
                <a:uFillTx/>
                <a:latin typeface="Microsoft JhengHei"/>
                <a:ea typeface="Microsoft JhengHei"/>
              </a:rPr>
              <a:t>強化實務展示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4" name=""/>
          <p:cNvSpPr/>
          <p:nvPr/>
        </p:nvSpPr>
        <p:spPr>
          <a:xfrm>
            <a:off x="9020160" y="3543480"/>
            <a:ext cx="1571400" cy="6663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TW" sz="1050" b="0" u="none" strike="noStrike">
                <a:solidFill>
                  <a:srgbClr val="4B5C68"/>
                </a:solidFill>
                <a:effectLst/>
                <a:uFillTx/>
                <a:latin typeface="Microsoft JhengHei"/>
                <a:ea typeface="Microsoft JhengHei"/>
              </a:rPr>
              <a:t>把 </a:t>
            </a:r>
            <a:r>
              <a:rPr lang="en-US" sz="1050" b="0" u="none" strike="noStrike">
                <a:solidFill>
                  <a:srgbClr val="4B5C68"/>
                </a:solidFill>
                <a:effectLst/>
                <a:uFillTx/>
                <a:latin typeface="Microsoft JhengHei"/>
                <a:ea typeface="Microsoft JhengHei"/>
              </a:rPr>
              <a:t>ONNX </a:t>
            </a:r>
            <a:r>
              <a:rPr lang="zh-TW" sz="1050" b="0" u="none" strike="noStrike">
                <a:solidFill>
                  <a:srgbClr val="4B5C68"/>
                </a:solidFill>
                <a:effectLst/>
                <a:uFillTx/>
                <a:latin typeface="Microsoft JhengHei"/>
                <a:ea typeface="Microsoft JhengHei"/>
              </a:rPr>
              <a:t>推論、</a:t>
            </a:r>
            <a:r>
              <a:rPr lang="en-US" sz="1050" b="0" u="none" strike="noStrike">
                <a:solidFill>
                  <a:srgbClr val="4B5C68"/>
                </a:solidFill>
                <a:effectLst/>
                <a:uFillTx/>
                <a:latin typeface="Microsoft JhengHei"/>
                <a:ea typeface="Microsoft JhengHei"/>
              </a:rPr>
              <a:t>Streamlit dashboard</a:t>
            </a:r>
            <a:r>
              <a:rPr lang="zh-TW" sz="1050" b="0" u="none" strike="noStrike">
                <a:solidFill>
                  <a:srgbClr val="4B5C68"/>
                </a:solidFill>
                <a:effectLst/>
                <a:uFillTx/>
                <a:latin typeface="Microsoft JhengHei"/>
                <a:ea typeface="Microsoft JhengHei"/>
              </a:rPr>
              <a:t>、風控警示整合成完整展示流程。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5" name=""/>
          <p:cNvSpPr/>
          <p:nvPr/>
        </p:nvSpPr>
        <p:spPr>
          <a:xfrm>
            <a:off x="1523880" y="5095800"/>
            <a:ext cx="9143640" cy="685440"/>
          </a:xfrm>
          <a:prstGeom prst="rect">
            <a:avLst/>
          </a:prstGeom>
          <a:solidFill>
            <a:srgbClr val="123A56"/>
          </a:solidFill>
          <a:ln w="9525">
            <a:solidFill>
              <a:srgbClr val="123A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6" name=""/>
          <p:cNvSpPr/>
          <p:nvPr/>
        </p:nvSpPr>
        <p:spPr>
          <a:xfrm>
            <a:off x="1857240" y="5286240"/>
            <a:ext cx="8476920" cy="3045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TW" sz="1430" b="1" u="none" strike="noStrike">
                <a:solidFill>
                  <a:srgbClr val="FFFFFF"/>
                </a:solidFill>
                <a:effectLst/>
                <a:uFillTx/>
                <a:latin typeface="Microsoft JhengHei"/>
                <a:ea typeface="Microsoft JhengHei"/>
              </a:rPr>
              <a:t>總結一句話：本專案已證明 </a:t>
            </a:r>
            <a:r>
              <a:rPr lang="en-US" sz="1430" b="1" u="none" strike="noStrike">
                <a:solidFill>
                  <a:srgbClr val="FFFFFF"/>
                </a:solidFill>
                <a:effectLst/>
                <a:uFillTx/>
                <a:latin typeface="Microsoft JhengHei"/>
                <a:ea typeface="Microsoft JhengHei"/>
              </a:rPr>
              <a:t>SMC </a:t>
            </a:r>
            <a:r>
              <a:rPr lang="zh-TW" sz="1430" b="1" u="none" strike="noStrike">
                <a:solidFill>
                  <a:srgbClr val="FFFFFF"/>
                </a:solidFill>
                <a:effectLst/>
                <a:uFillTx/>
                <a:latin typeface="Microsoft JhengHei"/>
                <a:ea typeface="Microsoft JhengHei"/>
              </a:rPr>
              <a:t>特徵可以被放進 </a:t>
            </a:r>
            <a:r>
              <a:rPr lang="en-US" sz="1430" b="1" u="none" strike="noStrike">
                <a:solidFill>
                  <a:srgbClr val="FFFFFF"/>
                </a:solidFill>
                <a:effectLst/>
                <a:uFillTx/>
                <a:latin typeface="Microsoft JhengHei"/>
                <a:ea typeface="Microsoft JhengHei"/>
              </a:rPr>
              <a:t>PPO </a:t>
            </a:r>
            <a:r>
              <a:rPr lang="zh-TW" sz="1430" b="1" u="none" strike="noStrike">
                <a:solidFill>
                  <a:srgbClr val="FFFFFF"/>
                </a:solidFill>
                <a:effectLst/>
                <a:uFillTx/>
                <a:latin typeface="Microsoft JhengHei"/>
                <a:ea typeface="Microsoft JhengHei"/>
              </a:rPr>
              <a:t>交易環境；接下來要證明策略在更多市場條件下仍然穩定。</a:t>
            </a:r>
            <a:endParaRPr lang="en-US" sz="14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7" name=""/>
          <p:cNvSpPr/>
          <p:nvPr/>
        </p:nvSpPr>
        <p:spPr>
          <a:xfrm>
            <a:off x="685800" y="6438960"/>
            <a:ext cx="10820160" cy="9000"/>
          </a:xfrm>
          <a:prstGeom prst="rect">
            <a:avLst/>
          </a:prstGeom>
          <a:solidFill>
            <a:srgbClr val="C4D1D5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"/>
          <p:cNvSpPr/>
          <p:nvPr/>
        </p:nvSpPr>
        <p:spPr>
          <a:xfrm>
            <a:off x="685800" y="6534000"/>
            <a:ext cx="838152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4B5C68"/>
                </a:solidFill>
                <a:effectLst/>
                <a:uFillTx/>
                <a:latin typeface="Microsoft JhengHei"/>
                <a:ea typeface="Microsoft JhengHei"/>
              </a:rPr>
              <a:t>Source: project code review and inference report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9" name=""/>
          <p:cNvSpPr/>
          <p:nvPr/>
        </p:nvSpPr>
        <p:spPr>
          <a:xfrm>
            <a:off x="11049120" y="6515280"/>
            <a:ext cx="456840" cy="1900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123A56"/>
                </a:solidFill>
                <a:effectLst/>
                <a:uFillTx/>
                <a:latin typeface="Cascadia Mono"/>
                <a:ea typeface="Cascadia Mono"/>
              </a:rPr>
              <a:t>10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 pitchFamily="0" charset="1"/>
        <a:ea typeface="Calibri Light" pitchFamily="0" charset="1"/>
        <a:cs typeface="Calibri Light" pitchFamily="0" charset="1"/>
      </a:majorFont>
      <a:minorFont>
        <a:latin typeface="Calibri" pitchFamily="0" charset="1"/>
        <a:ea typeface="Calibri" pitchFamily="0" charset="1"/>
        <a:cs typeface="Calibri" pitchFamily="0" charset="1"/>
      </a:minorFont>
    </a:fontScheme>
    <a:fmtScheme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LibreOffice/26.2.4.2$Windows_X86_64 LibreOffice_project/0229ac93fcf0d7cbc6376066c6f35021cef002dc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2026-06-07T07:03:44Z</dcterms:created>
  <dc:creator>Walnut Exporter</dc:creator>
  <dc:description/>
  <dc:language>zh-TW</dc:language>
  <cp:lastModifiedBy/>
  <dcterms:modified xsi:type="dcterms:W3CDTF">2026-06-07T15:13:24Z</dcterms:modified>
  <cp:revision>1</cp:revision>
  <dc:subject/>
  <dc:title>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Converted Presentation</vt:lpwstr>
  </property>
</Properties>
</file>