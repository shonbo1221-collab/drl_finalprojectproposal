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43cb8680e45e8" /><Relationship Type="http://schemas.openxmlformats.org/officeDocument/2006/relationships/extended-properties" Target="/docProps/app.xml" Id="Re676506965654f5f" /><Relationship Type="http://schemas.openxmlformats.org/officeDocument/2006/relationships/officeDocument" Target="/ppt/presentation.xml" Id="R356a1e1dea04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caf12e3a04f9b"/>
  </p:sldMasterIdLst>
  <p:notesMasterIdLst>
    <p:notesMasterId xmlns:r="http://schemas.openxmlformats.org/officeDocument/2006/relationships" r:id="Rd5643d15ac08437e"/>
  </p:notesMasterIdLst>
  <p:sldIdLst>
    <p:sldId xmlns:r="http://schemas.openxmlformats.org/officeDocument/2006/relationships" id="256" r:id="R0c65c3c28e864b6c"/>
    <p:sldId xmlns:r="http://schemas.openxmlformats.org/officeDocument/2006/relationships" id="257" r:id="Rc5ed2aeaf9b64a78"/>
    <p:sldId xmlns:r="http://schemas.openxmlformats.org/officeDocument/2006/relationships" id="258" r:id="R76371b7076674138"/>
    <p:sldId xmlns:r="http://schemas.openxmlformats.org/officeDocument/2006/relationships" id="259" r:id="R25e720f2592449fc"/>
    <p:sldId xmlns:r="http://schemas.openxmlformats.org/officeDocument/2006/relationships" id="260" r:id="Rd5a1da0c1f254abd"/>
    <p:sldId xmlns:r="http://schemas.openxmlformats.org/officeDocument/2006/relationships" id="261" r:id="R377ff00de297452a"/>
    <p:sldId xmlns:r="http://schemas.openxmlformats.org/officeDocument/2006/relationships" id="262" r:id="Rc972b0a62d054f7e"/>
    <p:sldId xmlns:r="http://schemas.openxmlformats.org/officeDocument/2006/relationships" id="263" r:id="R5359473b76624b9e"/>
    <p:sldId xmlns:r="http://schemas.openxmlformats.org/officeDocument/2006/relationships" id="264" r:id="Rce0b945b507540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a0280ad934607" /><Relationship Type="http://schemas.openxmlformats.org/officeDocument/2006/relationships/slideMaster" Target="/ppt/slideMasters/slideMaster1.xml" Id="Reaccaf12e3a04f9b" /><Relationship Type="http://schemas.openxmlformats.org/officeDocument/2006/relationships/notesMaster" Target="/ppt/notesMasters/notesMaster1.xml" Id="Rd5643d15ac08437e" /><Relationship Type="http://schemas.openxmlformats.org/officeDocument/2006/relationships/presProps" Target="/ppt/presProps.xml" Id="R1ab1e55d87a0429c" /><Relationship Type="http://schemas.openxmlformats.org/officeDocument/2006/relationships/viewProps" Target="/ppt/viewProps.xml" Id="R9fef9e658560404d" /><Relationship Type="http://schemas.openxmlformats.org/officeDocument/2006/relationships/tableStyles" Target="/ppt/tableStyles.xml" Id="Rcdb63f158545443d" /><Relationship Type="http://schemas.openxmlformats.org/officeDocument/2006/relationships/slide" Target="/ppt/slides/slide1.xml" Id="R0c65c3c28e864b6c" /><Relationship Type="http://schemas.openxmlformats.org/officeDocument/2006/relationships/slide" Target="/ppt/slides/slide2.xml" Id="Rc5ed2aeaf9b64a78" /><Relationship Type="http://schemas.openxmlformats.org/officeDocument/2006/relationships/slide" Target="/ppt/slides/slide3.xml" Id="R76371b7076674138" /><Relationship Type="http://schemas.openxmlformats.org/officeDocument/2006/relationships/slide" Target="/ppt/slides/slide4.xml" Id="R25e720f2592449fc" /><Relationship Type="http://schemas.openxmlformats.org/officeDocument/2006/relationships/slide" Target="/ppt/slides/slide5.xml" Id="Rd5a1da0c1f254abd" /><Relationship Type="http://schemas.openxmlformats.org/officeDocument/2006/relationships/slide" Target="/ppt/slides/slide6.xml" Id="R377ff00de297452a" /><Relationship Type="http://schemas.openxmlformats.org/officeDocument/2006/relationships/slide" Target="/ppt/slides/slide7.xml" Id="Rc972b0a62d054f7e" /><Relationship Type="http://schemas.openxmlformats.org/officeDocument/2006/relationships/slide" Target="/ppt/slides/slide8.xml" Id="R5359473b76624b9e" /><Relationship Type="http://schemas.openxmlformats.org/officeDocument/2006/relationships/slide" Target="/ppt/slides/slide9.xml" Id="Rce0b945b507540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d12e46abb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b6aa4405c4c16" /><Relationship Type="http://schemas.openxmlformats.org/officeDocument/2006/relationships/notesMaster" Target="/ppt/notesMasters/notesMaster1.xml" Id="R257db29a1bf047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fb22cacf124e85" /><Relationship Type="http://schemas.openxmlformats.org/officeDocument/2006/relationships/notesMaster" Target="/ppt/notesMasters/notesMaster1.xml" Id="R141914d37ef94b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ba3fe09e954625" /><Relationship Type="http://schemas.openxmlformats.org/officeDocument/2006/relationships/notesMaster" Target="/ppt/notesMasters/notesMaster1.xml" Id="R5539bd4e444f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928e7a0bc46c7" /><Relationship Type="http://schemas.openxmlformats.org/officeDocument/2006/relationships/notesMaster" Target="/ppt/notesMasters/notesMaster1.xml" Id="Rdccbb5f687db4a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295ecbd654dbb" /><Relationship Type="http://schemas.openxmlformats.org/officeDocument/2006/relationships/notesMaster" Target="/ppt/notesMasters/notesMaster1.xml" Id="R381912e907794e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7006d6e5a44bee" /><Relationship Type="http://schemas.openxmlformats.org/officeDocument/2006/relationships/notesMaster" Target="/ppt/notesMasters/notesMaster1.xml" Id="R9576e6e58feb4b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2b07b5e4004308" /><Relationship Type="http://schemas.openxmlformats.org/officeDocument/2006/relationships/notesMaster" Target="/ppt/notesMasters/notesMaster1.xml" Id="R387ac4bc3ad142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5841d9ad44904" /><Relationship Type="http://schemas.openxmlformats.org/officeDocument/2006/relationships/notesMaster" Target="/ppt/notesMasters/notesMaster1.xml" Id="R5a677afd220447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181566154b4c1d" /><Relationship Type="http://schemas.openxmlformats.org/officeDocument/2006/relationships/notesMaster" Target="/ppt/notesMasters/notesMaster1.xml" Id="Rf3bc7b5fe707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f96a8f672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438632da54dd1" /><Relationship Type="http://schemas.openxmlformats.org/officeDocument/2006/relationships/slideLayout" Target="/ppt/slideLayouts/slideLayout1.xml" Id="Rb5b92dee2c5d4c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92dee2c5d4c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fd89226814834" /><Relationship Type="http://schemas.openxmlformats.org/officeDocument/2006/relationships/notesSlide" Target="/ppt/notesSlides/notesSlide1.xml" Id="Rc34eb7454f3b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b52d0dc614619" /><Relationship Type="http://schemas.openxmlformats.org/officeDocument/2006/relationships/notesSlide" Target="/ppt/notesSlides/notesSlide2.xml" Id="R25c0009b4026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ec7ac1c004cd6" /><Relationship Type="http://schemas.openxmlformats.org/officeDocument/2006/relationships/image" Target="/ppt/media/image.bin" Id="Red6876a9c9ea492f" /><Relationship Type="http://schemas.openxmlformats.org/officeDocument/2006/relationships/notesSlide" Target="/ppt/notesSlides/notesSlide3.xml" Id="R4b12408f33c7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e8cf69e714d20" /><Relationship Type="http://schemas.openxmlformats.org/officeDocument/2006/relationships/image" Target="/ppt/media/image2.bin" Id="R2dea9fc1ccdd4250" /><Relationship Type="http://schemas.openxmlformats.org/officeDocument/2006/relationships/notesSlide" Target="/ppt/notesSlides/notesSlide4.xml" Id="R80d833d12a88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840417eac423f" /><Relationship Type="http://schemas.openxmlformats.org/officeDocument/2006/relationships/notesSlide" Target="/ppt/notesSlides/notesSlide5.xml" Id="R74d3c8c7253a48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32a77d8d04eaf" /><Relationship Type="http://schemas.openxmlformats.org/officeDocument/2006/relationships/notesSlide" Target="/ppt/notesSlides/notesSlide6.xml" Id="Rc5450c5b1d834b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69d9b89d34f48" /><Relationship Type="http://schemas.openxmlformats.org/officeDocument/2006/relationships/notesSlide" Target="/ppt/notesSlides/notesSlide7.xml" Id="R7321627e5b6a45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26199a8bc4354" /><Relationship Type="http://schemas.openxmlformats.org/officeDocument/2006/relationships/notesSlide" Target="/ppt/notesSlides/notesSlide8.xml" Id="R67e76ca799244c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ddf3fd8b8434b" /><Relationship Type="http://schemas.openxmlformats.org/officeDocument/2006/relationships/notesSlide" Target="/ppt/notesSlides/notesSlide9.xml" Id="Rd832bd2a25674c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FBA53-2963-4704-94A7-3ECFEAF0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D2D30E85-686D-4B56-847E-9F6D724A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E3054735-C78D-4C8D-B618-9C229AAA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FINAL PROJECT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67E98-F339-426E-A083-B8AFA74B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SMC + PPO 多股票動態資金配置系統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014D1-E3F1-49DB-9876-29EE6852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790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以 Smart Money Concept 特徵與 pair / basket spread z-score 作為狀態，訓練 PPO policy 在台股多檔標的間做 out-of-sample 配置決策。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60571-22A4-4967-9007-A170482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AB1B2-1DA6-480A-BFCF-F8B31977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95771-F9F4-46CC-B32A-129A241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65BBB-CFF0-4657-AAE6-7D0BBE1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500k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281C5-2793-4FDE-9307-5418FE4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PPO training timesteps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C851F-1D45-428E-A2C9-FA8D4F80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per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6E521-162B-4C48-9E2D-C3C5890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F43CF-063C-47E9-8D96-1F1C346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C6225-8AEB-4A4C-9192-DF23936D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2018-2024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F6EBA-06A5-4ECF-9DD2-B3B3469F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training period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6C986-2287-49CC-9D26-CC9C8F2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2114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historical OHLCV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7DA57-C8CF-42C8-A77C-07BD4733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9268B-B848-440B-BF89-F7A0A7A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54DC4-6E5B-45B4-BC8D-309E5261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2025-2026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C6B17-A2BB-4DC8-82B5-C1918ED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338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inference period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CAB89-B46C-482F-88F0-2612500E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33875"/>
            <a:ext cx="2114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out-of-sample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50665-F058-4ADF-83C1-A0C724F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ABE28-5162-4413-ADC9-75B887B7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07CD2-6D8F-4E18-A16E-DA73F7D9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8B57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E8B57"/>
                </a:solidFill>
                <a:latin typeface="Cascadia Mono"/>
                <a:ea typeface="Cascadia Mono"/>
                <a:cs typeface="Cascadia Mono"/>
              </a:rPr>
              <a:t>2 /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51F9C-43EC-41F2-A2E0-28B20C70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stock universes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05A58-0C91-4F2F-9B0F-083939E2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3387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and basket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81C12-ED8D-498A-B509-87CC88C1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Core thesis: turn discretionary SMC signals into a measurable RL environment, then evaluate return and risk under realistic TWSE trading frictions.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16E2B-7424-460A-AE66-311786E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3ABAE-4869-4ACB-9F60-5D1E595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README.md, train_pipeline.py, predict_pipeline.py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E384A1-44D7-48FE-9B80-F51778D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48179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7E66B9-6E90-43B6-A711-FEC56989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23F2132-3D81-432C-AB57-C8AB5E0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FBC856B-9852-4358-90FD-86B63B51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E29C0-9C39-4689-BE0A-23FC455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靜態 SMC 訊號需要能動態管理曝險的決策器。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754AB-8D25-4E7A-BA66-4465CB6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專案目前不是只預測漲跌，而是把 SMC 市場結構、價差均值回歸與資金權重放進同一個交易環境。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6C108-CD76-4C1D-AFC8-6FB7615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BCB3B-9335-42FA-BD6A-55B9D43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5AF7D-003B-460E-94B5-D613142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8AE74-E1C9-448B-9DB8-E5C828FF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SMC 可描述機構供需區域，但手動規則難以決定何時加碼、降曝險或持有現金。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7B944-2D9B-4280-B6CA-958E366D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017BA-BDD7-41D3-9F0B-B196442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多股票情境下，資金配置不是單一 buy/sell，而是相對價值與風險控制問題。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2E0D-B0E5-49B8-90AA-12A4594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ECF9C-EBB2-4E09-9571-7BBC3552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527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Project 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89B1A-9444-49A8-9164-55716F64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5C03A-1033-4867-828E-5A347E8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76625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以 0050.TW / 2330.TW pair，以及 0050.TW / 2330.TW / 2412.TW basket 兩個模型驗證。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40F8D-EE99-4EAE-8566-EE17F07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E30CF-85D5-4E41-A951-A618603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05300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PPO 的 action 被轉換成目標權重，透過環境進行每日再平衡。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6394E-AC14-4A1D-A28E-1201D97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6FD76-6DFA-4B69-8A19-206C47D3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714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Research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ECBFB-319F-4946-8C88-7AEE9663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F2750-7EC3-47B0-A6B5-C30F9B62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76625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SMC 特徵是否能協助 PPO 在 out-of-sample 期間產生正報酬？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C5403-488A-4A96-BEE2-7F77F86A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30729-C705-4BAF-AA10-64A9522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pair 的高報酬與 basket 的低回撤，如何形成風險報酬取捨？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D0E0C-0B85-4866-A584-C92AFD94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61188-E10A-42FC-BEB2-9421D0D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twse_pipeline_common.py, README.md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7F26A-B12E-49C3-B76A-60504B97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02311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6F0CA-6345-4CDF-B4AE-1D80A69F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5D035BB-D45E-469E-AED3-2F6B435E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19A82A3-A580-419F-9ECC-BE3BF506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RELATED WORK 1 / PPO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EEAC3-E6FE-46D3-A4E1-D96D48CC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PPO 提供穩定的 on-policy 更新，適合連續權重調整。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90782-E695-4865-86AB-C94EE11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876a9c9ea492f"/>
          <a:stretch xmlns:a="http://schemas.openxmlformats.org/drawingml/2006/main"/>
        </p:blipFill>
        <p:spPr>
          <a:xfrm xmlns:a="http://schemas.openxmlformats.org/drawingml/2006/main">
            <a:off x="876300" y="1952625"/>
            <a:ext cx="64770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E100E-7E36-4E5C-AC54-1628777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SMC + spread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3992A-5F6E-4F3D-A0AE-3200C30C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PPO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policy/value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7E626-5FA3-402A-AB73-E3AE9A40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004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allocation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5D784-311F-4A2B-83D7-B9364BC5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Reward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PnL - cost - DD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F054D-EC25-4DB1-B72F-FEB89BC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5528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9165-84F0-401B-9712-1931606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Why PPO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84E99-B144-45C9-B144-62F7F05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37386-7EB2-417F-ACB5-29DE58E7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2638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Actor-critic 架構同時學 policy 與 value，能把每日狀態映射到 allocation action。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8DA94-D3D5-4338-9DBC-D8B96D05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FE27F-CFF1-474D-B735-F44D1FD4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76625"/>
            <a:ext cx="2638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Clipped surrogate objective 限制 policy 更新幅度，避免交易策略在訓練中劇烈漂移。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262F4-C871-43D8-B47B-1CAA7CC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91270-0CEF-4695-9BA6-E642B68D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00550"/>
            <a:ext cx="2638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目前程式使用 Stable-Baselines3 PPO、MlpPolicy、pi/vf = [128, 128]。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5607D-71E1-4602-8F16-34527490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643A2-BCB2-438F-BD22-47480E7E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docs/images/ppo-sarsa-decision-flow.svg, train_pipeline.py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6DB4B-BC87-46C7-82A0-BB1B33A4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20240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CD53A-8A52-424F-A784-D6F6E523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B74EFAF-2731-4D2D-A162-3C42EA9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22F844D-DD95-49BA-834D-DB39FDD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RELATED WORK 2 / SARSA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36E8D-1884-4BE0-8512-FA3704C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SARSA 說明 state-action-return 的學習概念，但本專案實作選擇 PPO。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4060E-0854-4E23-BE43-6C84661E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8102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a9fc1ccdd4250"/>
          <a:stretch xmlns:a="http://schemas.openxmlformats.org/drawingml/2006/main"/>
        </p:blipFill>
        <p:spPr>
          <a:xfrm xmlns:a="http://schemas.openxmlformats.org/drawingml/2006/main">
            <a:off x="876300" y="1981200"/>
            <a:ext cx="542925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29ADB-217D-4558-BDE3-D287C41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s_t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A8D19-293E-4CB3-8889-D280D220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a_t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F49EC-1B96-4E76-B288-58284F1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481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r_t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D62C5-6157-4150-BF09-9A3BF632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719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s_{t+1}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BB07A-A06B-4AC6-90A9-056FB321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Conceptual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FC20C-47F5-4D17-9F26-9129760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9723E-B568-4121-ACDC-719858E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CB51A-CB20-4C27-9E4C-92824D4C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600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72E07-9A34-4C8A-87ED-161CD4C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812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SARSA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38A25-7EA1-448E-A78D-AEF35CE6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Q(s,a) 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B3066-1013-473A-B04C-526CF1D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7650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離散 action 較直觀，適合理解 on-policy TD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B010E-14B0-4142-897B-731486F5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B1D5C-CD45-4FCD-A21D-0FCEAB46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BC824-48D3-4F09-A0E0-8E38A1AC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600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BEF49-F184-46CB-9F0B-B37D9D7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33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PPO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EE0EA-FCEB-40E0-BD25-095CC9F5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policy gradient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E6722-C936-4DAD-86DF-8194DF37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2900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直接輸出連續 action，可轉為股票權重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AB71C-6A18-4220-A9D1-8184632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862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833C42-97EE-4C44-A22C-FFF766A9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86250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37DC7-85B0-4141-B4BE-9B65DC5E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600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37303-59EE-438A-B709-9744AB51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4862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Current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89EF6-0AE7-44BD-BB16-4C77E74B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Stable-Baselines3 PPO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008D6-E2AB-497E-8424-B8849C97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沒有 SARSA 訓練；SARSA 作為 related-work 對照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5A6515-DC3D-4702-8B10-FDE03CE6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457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7C86A-9D5E-4FED-B57A-AEC11B1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381625"/>
            <a:ext cx="440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報告敘述重點：SARSA 幫助說明強化學習交易的基本循環；本專案貢獻在 PPO + SMC 的連續配置環境。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533380-8321-4184-80FD-620CDF73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CB7906-558A-4DFA-9F67-ABDF25E1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docs/images/sarsa-system-concept.svg, train_pipeline.py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A9E7C3-DF7A-4338-9920-84FADD8D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37358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EA63F-2141-47AE-9026-9FE7EB9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F180C209-21D2-4139-A3EE-8F75CD1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BA360BD9-5549-4A5C-BE95-B17DD05D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PROPOSED SCHEME /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6F20-D2BE-40C5-9AFB-DA7111A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系統把 SMC 特徵工程、交易環境與 PPO policy 串成閉環。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152A0-E180-43C1-9762-1CBD8659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7D9C-0F3E-4FF9-880B-24643AE3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0D5A9-149D-4F4D-A0DF-00B550C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OHLCV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54B27-3896-42DD-ACE6-401F265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40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yfinance 下載台股日線</a:t>
            </a:r>
          </a:p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open/high/low/close/volume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FA3EE-B8DE-4106-A525-B7F06842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B7E0E-D00E-4FE7-BA51-9F01525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4EE16-10E6-4E21-9C6F-95F03F73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1C874-0B2A-4EA8-9FC9-EC852DE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CEAD5-297B-4CF2-BDF0-24C84F25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SMC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B6233-CE0A-41E5-BE05-B3EA94A4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140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PD_Pos / OB_Dist / FVG_Signal</a:t>
            </a:r>
          </a:p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每檔股票各自計算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37687-2487-4FF0-ACB6-0573152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813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24323-9DC7-48B3-A334-00EB8DD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4F413-6729-4CD1-B70F-87143B76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DCE86-9F3D-4A3F-8ADA-F5A550C1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33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2BE0F-292A-4895-9059-4643B577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Relative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539DF-A8A2-44B7-913C-8B8E40A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67050"/>
            <a:ext cx="140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20-day rolling spread z-score</a:t>
            </a:r>
          </a:p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或 basket pairwise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95955-1CAB-4939-A67E-26FA9D4E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01777-1093-4B7E-8F46-A5601B4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D88BF-23FC-43D6-B1FA-46EEC6C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61421-517C-4346-8859-1950A372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F278C-C055-435F-8710-663494E0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Gym Env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ECCC6-75B1-4E2C-9FBF-3B7B592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140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observation = features + weights + cash</a:t>
            </a:r>
          </a:p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step() 執行再平衡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836C8-08D8-45A1-8D66-4DBFC42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813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EBFF3-5152-4BA2-8546-273B1DF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84CDE-5D5E-4FEE-9486-B5392F30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76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814F7F-8869-453C-8633-FCFF28F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DD1098-591F-40A8-B276-8132958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90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PPO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342F3-F88F-411C-B789-D7FE716E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40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action -&gt; target weights</a:t>
            </a:r>
          </a:p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reward -&gt; risk-aware objective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E3787-7C1E-444D-8FFF-2F0DDD97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9525">
            <a:solidFill>
              <a:srgbClr val="123A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C7706B-656B-484A-BFAA-6EA12F1D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9585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Closed-loop learning: market state -&gt; action -&gt; execution cost / tax / drawdown -&gt; reward -&gt; PPO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92D4EE-84E2-4237-A13F-8A304EF1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287A9-6849-4CB5-B724-9F4476A7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twse_pipeline_common.py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71CBC7-5029-4141-B73E-3524BFC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59677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01E5D-F965-45E1-9CC8-39DEBBD7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C0AF45DF-941D-4D2F-BD55-98072AC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44EA7108-78C7-4D8C-A802-9B3375CA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PROPOSED SCHEME / DETAIL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6D895-0B66-43DC-A5E0-2EAC9EF9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程式設計把金融限制與研究正確性直接寫進環境。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EA309-157D-46B5-A993-0EA8856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14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77D1F-C9B8-495A-9CA3-4DF8B8FE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Avoid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2C7E5-74A0-4757-927D-216C0953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907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feature_cols shift(1)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7DEA2-78BC-43DE-A80C-85944EAF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決策在 t 日只能看見 t-1 已知市場特徵；OHLCV 保留給環境執行與 mark-to-market。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2D974-4512-4E75-8F70-51312E82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314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6CA29-4C57-49DB-9B12-8AD9D7C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TWSE frictions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D63E6-89B1-41A6-95C3-E7150CA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brokerage + sell tax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8FA51-E39F-405A-BADC-C32E21C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買賣手續費 0.1425% * 0.6；0050 賣出稅 0.1%，股票賣出稅 0.3%。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BDE4A-E359-4CF1-BEBA-D5313FE2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314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3C66E-3BD6-48AC-9F0D-37B15FE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Limit-up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D4640-75A9-46D1-8228-A04CD3CB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48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price &gt;= prev_close * 1.10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D5518-488A-4E9E-8958-07716FBA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漲停時跳過該筆 order，history 記錄 failed_orders。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E8A20-9051-44A5-939C-8A2454EE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5314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F1C32-4FB9-48C4-9E0A-B1F49A3D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Action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4A973-9989-494C-8A84-608B916D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pair: sign selects asset; basket: clipped positive scores normalize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84BFF-99F5-4D45-8712-758873F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只在 0050 或 2330 間配置；basket 將正 action 正規化成多檔權重。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7F770-45BC-4C28-9BCB-AFDE6885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314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262DD-3446-4769-888C-D787865D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Risk-aware reward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B27FB-16B7-46ED-ADC1-FDD8213A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7053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PnL * SharpeAdj - cost - 2*DD penalty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EC0F9-4534-4E16-B3D6-53ECE6C7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同時鼓勵報酬、懲罰交易成本，並對新增回撤加重扣分。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4E261-3ED2-4042-BC7F-8E6A223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5314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6EE0C-6370-474B-8B78-968C130B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Model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1F99C-17F7-4E9F-BF72-F0F1358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053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zip + ONNX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6692F7-F582-475F-A3E1-5A7FF08C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101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保留 Stable-Baselines3 模型與 ONNX 檔，支援訓練後部署/推論。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DA00B-DE91-419A-B93C-502F2A4B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EDF03A-0D42-406C-B222-B7020F5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twse_pipeline_common.py, train_pipeline.py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FBC0D-E1D8-4F85-8E2C-4BF6EDB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22377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6B0B3-AF12-4C9F-867C-49CFCAFB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4C81FE0-8EEF-4AEB-A5FA-E8A95D59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DFFCF4D-BDBF-4B12-9554-10D6520E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SIMULATION /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EC095-1185-4C25-8935-41DFEF75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訓練與推論採時間切分，推論只載入模型做 deterministic action。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5B27A-9B2A-440D-8A67-47F3F0F5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A6778-A190-41D0-82F3-519BB94A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6B5F4-8617-4565-832C-6C7C22D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2018-01-01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92D91-06A5-42DD-88B4-B3E26619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training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71218-34DF-4716-A18D-C9AA354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in-sample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E44C7-2E78-4508-AA68-C38EF6F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D117B-DE5B-493D-AED2-66E4C2C9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5B88E-C624-42C0-AC9C-7EE3DB4E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2024-12-31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F3CB1-ACA1-4814-8178-3A9945B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193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training 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1F82C-FAC5-41E2-9FCC-890306B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1937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500k timesteps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E80DA-B007-4460-8F18-A5C92AE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050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5B38B-86C9-4C11-BA84-E4F6D43B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FFC0E-A5E0-498C-B364-B9BC1BF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574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2025-01-01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B7691-3E0C-40A2-8FCD-F1FA317F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193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inference 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0C93F-9726-4A19-A42E-19572BF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1937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out-of-sample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5BF3E-54B5-4D36-9E46-1F9F09A5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65CC6-E76C-4B1F-8481-B43C2CA5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0EB3E-5C13-4A6A-9093-9F90C34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8B57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E8B57"/>
                </a:solidFill>
                <a:latin typeface="Cascadia Mono"/>
                <a:ea typeface="Cascadia Mono"/>
                <a:cs typeface="Cascadia Mono"/>
              </a:rPr>
              <a:t>2026-05-01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06346-C1A2-4FBD-9816-0C21D1A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inference 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DAAFC-CA23-43FB-97FF-3286F70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deterministic=True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27BFE-CF77-4D87-8E59-AF3017D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E580B-F097-4226-ACB6-ACA59AE2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Training data 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AD7C0-69CE-44DC-85CA-579E290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Daily OHLCV from yfinance + generated SMC features + rolling spread z-score. The PPO environment observes market features, current portfolio weights, and cash ratio.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B442B-B130-4932-AA45-B0735CA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357A0-4A6E-4BDF-96C0-4514D8FC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Inference relationship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73FE12-6527-4B1A-86CB-B7F1C4D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Inference repeats the same feature pipeline on future dates, loads saved PPO weights, and evaluates net worth / return / Sharpe / max drawdown without further learning.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D74D5-CCB6-4C7F-9709-BE682A3A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EE3C5-0874-424C-9E26-70012986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train_pipeline.py, predict_pipeline.py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BC2B0-12E7-48B4-9A80-F4E360A6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40078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91486-2674-4896-91CD-59DA627B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39CE36C4-94D5-453C-B050-619932F7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79D9136A-64C0-42D6-B757-C731EE8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SIMULATION / RESULT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2F60F-F4C5-4F2D-A5B7-F8B9AE5B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Pair 模型追求高報酬；Basket 模型提供較低回撤的穩定性。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73858-EE30-4BAD-A46E-0B13972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0D41B-9EFB-4E68-900E-FF205237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Out-of-sample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C3410-1EAB-4300-995B-F7A02E7E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81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Cumulative return /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771A-8B8B-463F-B6F2-3206228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A4198-D383-4E5B-B828-70E987C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A35EA-8F82-42ED-9CBE-CE3DBB6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84.92%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D64B8-7BFD-466D-AD98-2DECAFBE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Cumulative return / basket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919AD-C218-4CC3-B2D5-F52308F9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1B209-B909-40CA-989E-35EB96AB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16973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9B495-0F1A-4F48-B8D3-F93B396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38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42.02%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9662A-0BC4-4214-B9BD-EAC17E38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Sharpe ratio / 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9F123-9DBC-41D4-8AA7-93CB1896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FD51C-D701-4615-B2E3-E93AA11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5A0F2-8262-4D5C-AA65-F5724F7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1.84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20434-014D-403A-8488-7253379B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05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Sharpe ratio / basket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E0040-6967-4EBF-B4FA-40FE1420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529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64C2E-A70D-40C3-87FB-7AFFED0D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52925"/>
            <a:ext cx="262661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12DE4-D9FA-49C1-A82F-52F90FB5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86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1.41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B6364-CC44-4E7B-BFBD-8D89E34A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F49F3-8416-4D7D-97ED-63D53D3B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Accuracy proxy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143DC-4BB1-4CEC-9120-B4F078C4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本專案是交易決策，不是分類模型；以 out-of-sample return、Sharpe、drawdown 作為策略準確性與品質代理。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1214B-E82E-474C-A6A5-3ADD8C9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FC7B3-8042-4C7E-846C-14A56FB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81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Risk note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EC6C1-14EA-4A1B-A9E8-111AD20D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最大回撤 -26.72%；Basket 最大回撤 -10.45%，顯示分散標的能降低尾端風險。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8B83B-F83C-43B7-A186-CFD5DFD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9525">
            <a:solidFill>
              <a:srgbClr val="123A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046EF-9153-4DF5-8AA7-EA8958A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57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Final net worth: pair NTD 1.849M; basket NTD 1.420M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47759-AC7A-4C76-B879-E79FC1F6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6B47D-87DE-4A33-ACD7-F2EBE3CF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conda run predict_pipeline.py on 2026-06-07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D6242-C26C-4A96-8DDE-81B747B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26833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52ED7-D7CC-4B2B-9311-352D27F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9575DC86-198C-473A-AC59-4763E7A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E597F044-F71F-49ED-BEC7-D5565F4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CONCLUSION /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D1309-F85A-442A-82E7-330BDEAC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SMC+PPO 已形成可推論的交易系統；下一步是提升可比較性與穩健性。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234C5-2699-4AAC-8185-976B51C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FB7FC-861D-43B7-9BEA-4B6936F1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BEF60-3E1B-4705-A057-A8B67BDA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Broader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B5401-57DA-4287-948F-6D92DFBE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加入 buy-and-hold、equal-weight、rule-based SMC、SARSA/DQN 等基準。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FF01F-CCEC-4DCF-B743-9D394B1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71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44309-7F40-4D8A-94FA-0C88DC20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24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6030D-9DAC-47FE-BBBF-1A6D028A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599B0-B850-410F-83C5-E9B5E949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1D483-7C52-4A82-BC87-3D297A2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Robust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50089-2E6D-4654-AFEB-67A76A0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433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用 rolling window、不同市場區間與交易成本敏感度測試策略是否穩定。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1395A-40E2-447E-8320-A6178E0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91D9D-F9D4-463D-9259-FC11CCE7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12D86-0C08-4B81-A03C-04250740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BEA9F-3E93-4380-B902-6DA3932E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9BD75-7D5B-4728-8B96-C5319F3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Explainability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ED91D-FB52-464C-914D-3326F18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分析 action 與 PD_Pos / OB_Dist / FVG / z-score 的關係，解釋模型偏好。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304C0-FFDC-413C-9717-043A5677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5B25C-F4AF-4A27-A6A4-6C27E11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24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5C1A2-2214-4138-819F-3EE0E04B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FBE8E-B90F-4860-8D25-8F7AB90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433446-C951-4E26-B8A1-65EA11A1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13948-8334-449D-9ACA-AD5ABB9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433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將 ONNX 推論、Streamlit dashboard 與風控警示整合成可展示流程。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4C02F-7C12-490B-BF55-019AF65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9525">
            <a:solidFill>
              <a:srgbClr val="123A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B0C99-BBE9-44DD-9BDF-4032CED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7685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Final message: the current project already proves the implementation path; future work should prove whether the edge survives stronger baselines and changing regimes.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1EA91-D559-49C6-B460-F37F0B4A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7BB45-4D60-4208-8920-6991E5B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project code review and inference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B243CE-9E95-4C18-92D6-60EABFF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8736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2026-06-07T05:07:29.8500000Z</dcterms:created>
  <dcterms:modified xsi:type="dcterms:W3CDTF">2026-06-07T05:07:29.8500000Z</dcterms:modified>
</coreProperties>
</file>