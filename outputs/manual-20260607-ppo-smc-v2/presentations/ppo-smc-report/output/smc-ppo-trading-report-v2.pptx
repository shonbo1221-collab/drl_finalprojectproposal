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d1b1023d2d4c52" /><Relationship Type="http://schemas.openxmlformats.org/officeDocument/2006/relationships/extended-properties" Target="/docProps/app.xml" Id="R873670bd5e4145c1" /><Relationship Type="http://schemas.openxmlformats.org/officeDocument/2006/relationships/officeDocument" Target="/ppt/presentation.xml" Id="R6cc700c1e37a40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268b6830744dd"/>
  </p:sldMasterIdLst>
  <p:notesMasterIdLst>
    <p:notesMasterId xmlns:r="http://schemas.openxmlformats.org/officeDocument/2006/relationships" r:id="R41ed65d62ef149de"/>
  </p:notesMasterIdLst>
  <p:sldIdLst>
    <p:sldId xmlns:r="http://schemas.openxmlformats.org/officeDocument/2006/relationships" id="256" r:id="R3693b779f4274fdd"/>
    <p:sldId xmlns:r="http://schemas.openxmlformats.org/officeDocument/2006/relationships" id="257" r:id="Ra22f92a9dbb14352"/>
    <p:sldId xmlns:r="http://schemas.openxmlformats.org/officeDocument/2006/relationships" id="258" r:id="R1f7433af3ebd4807"/>
    <p:sldId xmlns:r="http://schemas.openxmlformats.org/officeDocument/2006/relationships" id="259" r:id="Rb6feaf095e9048e4"/>
    <p:sldId xmlns:r="http://schemas.openxmlformats.org/officeDocument/2006/relationships" id="260" r:id="Rbcfedf1ca245418b"/>
    <p:sldId xmlns:r="http://schemas.openxmlformats.org/officeDocument/2006/relationships" id="261" r:id="R73af799609e34d88"/>
    <p:sldId xmlns:r="http://schemas.openxmlformats.org/officeDocument/2006/relationships" id="262" r:id="Rd192a756c37c4842"/>
    <p:sldId xmlns:r="http://schemas.openxmlformats.org/officeDocument/2006/relationships" id="263" r:id="R0b91814a16f24655"/>
    <p:sldId xmlns:r="http://schemas.openxmlformats.org/officeDocument/2006/relationships" id="264" r:id="Rc5b09df9cb124805"/>
    <p:sldId xmlns:r="http://schemas.openxmlformats.org/officeDocument/2006/relationships" id="265" r:id="R4e2367377f744f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f0704714704746" /><Relationship Type="http://schemas.openxmlformats.org/officeDocument/2006/relationships/slideMaster" Target="/ppt/slideMasters/slideMaster1.xml" Id="R0b3268b6830744dd" /><Relationship Type="http://schemas.openxmlformats.org/officeDocument/2006/relationships/notesMaster" Target="/ppt/notesMasters/notesMaster1.xml" Id="R41ed65d62ef149de" /><Relationship Type="http://schemas.openxmlformats.org/officeDocument/2006/relationships/presProps" Target="/ppt/presProps.xml" Id="Rcbeb0c36afed4c3e" /><Relationship Type="http://schemas.openxmlformats.org/officeDocument/2006/relationships/viewProps" Target="/ppt/viewProps.xml" Id="Rcd93317b066e4600" /><Relationship Type="http://schemas.openxmlformats.org/officeDocument/2006/relationships/tableStyles" Target="/ppt/tableStyles.xml" Id="R1cb5981715924c32" /><Relationship Type="http://schemas.openxmlformats.org/officeDocument/2006/relationships/slide" Target="/ppt/slides/slide1.xml" Id="R3693b779f4274fdd" /><Relationship Type="http://schemas.openxmlformats.org/officeDocument/2006/relationships/slide" Target="/ppt/slides/slide2.xml" Id="Ra22f92a9dbb14352" /><Relationship Type="http://schemas.openxmlformats.org/officeDocument/2006/relationships/slide" Target="/ppt/slides/slide3.xml" Id="R1f7433af3ebd4807" /><Relationship Type="http://schemas.openxmlformats.org/officeDocument/2006/relationships/slide" Target="/ppt/slides/slide4.xml" Id="Rb6feaf095e9048e4" /><Relationship Type="http://schemas.openxmlformats.org/officeDocument/2006/relationships/slide" Target="/ppt/slides/slide5.xml" Id="Rbcfedf1ca245418b" /><Relationship Type="http://schemas.openxmlformats.org/officeDocument/2006/relationships/slide" Target="/ppt/slides/slide6.xml" Id="R73af799609e34d88" /><Relationship Type="http://schemas.openxmlformats.org/officeDocument/2006/relationships/slide" Target="/ppt/slides/slide7.xml" Id="Rd192a756c37c4842" /><Relationship Type="http://schemas.openxmlformats.org/officeDocument/2006/relationships/slide" Target="/ppt/slides/slide8.xml" Id="R0b91814a16f24655" /><Relationship Type="http://schemas.openxmlformats.org/officeDocument/2006/relationships/slide" Target="/ppt/slides/slide9.xml" Id="Rc5b09df9cb124805" /><Relationship Type="http://schemas.openxmlformats.org/officeDocument/2006/relationships/slide" Target="/ppt/slides/slide10.xml" Id="R4e2367377f744f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b40b6eb8764f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1458c6ad9f4512" /><Relationship Type="http://schemas.openxmlformats.org/officeDocument/2006/relationships/notesMaster" Target="/ppt/notesMasters/notesMaster1.xml" Id="R7947d7e3653e4b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97d97a97ae47d9" /><Relationship Type="http://schemas.openxmlformats.org/officeDocument/2006/relationships/notesMaster" Target="/ppt/notesMasters/notesMaster1.xml" Id="R03030e0544cb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bca4a341844d8f" /><Relationship Type="http://schemas.openxmlformats.org/officeDocument/2006/relationships/notesMaster" Target="/ppt/notesMasters/notesMaster1.xml" Id="Ra8b4ad65a542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f077d48ecc4e3e" /><Relationship Type="http://schemas.openxmlformats.org/officeDocument/2006/relationships/notesMaster" Target="/ppt/notesMasters/notesMaster1.xml" Id="Rc38374dba23342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80b565b0df42ad" /><Relationship Type="http://schemas.openxmlformats.org/officeDocument/2006/relationships/notesMaster" Target="/ppt/notesMasters/notesMaster1.xml" Id="Ra7010d024fd04a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b4a1d691304bdd" /><Relationship Type="http://schemas.openxmlformats.org/officeDocument/2006/relationships/notesMaster" Target="/ppt/notesMasters/notesMaster1.xml" Id="R51e1433b295146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bb436cb794222" /><Relationship Type="http://schemas.openxmlformats.org/officeDocument/2006/relationships/notesMaster" Target="/ppt/notesMasters/notesMaster1.xml" Id="R4ad33597d18c4d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b2361e04b84cc5" /><Relationship Type="http://schemas.openxmlformats.org/officeDocument/2006/relationships/notesMaster" Target="/ppt/notesMasters/notesMaster1.xml" Id="Rda9da9c2d90047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94e65023204981" /><Relationship Type="http://schemas.openxmlformats.org/officeDocument/2006/relationships/notesMaster" Target="/ppt/notesMasters/notesMaster1.xml" Id="R054d4f159f8843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90fc7ed2c449ee" /><Relationship Type="http://schemas.openxmlformats.org/officeDocument/2006/relationships/notesMaster" Target="/ppt/notesMasters/notesMaster1.xml" Id="R8e8c17fef1c0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3ee62f85d46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c6a41a52cc49e5" /><Relationship Type="http://schemas.openxmlformats.org/officeDocument/2006/relationships/slideLayout" Target="/ppt/slideLayouts/slideLayout1.xml" Id="R19bab80b2952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ab80b2952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a0a8bffd641b6" /><Relationship Type="http://schemas.openxmlformats.org/officeDocument/2006/relationships/notesSlide" Target="/ppt/notesSlides/notesSlide1.xml" Id="R4e3f6e442358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50b60bb8a41ff" /><Relationship Type="http://schemas.openxmlformats.org/officeDocument/2006/relationships/notesSlide" Target="/ppt/notesSlides/notesSlide2.xml" Id="R89b51d0ad447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f81dea5464d35" /><Relationship Type="http://schemas.openxmlformats.org/officeDocument/2006/relationships/notesSlide" Target="/ppt/notesSlides/notesSlide3.xml" Id="R2a9d55f6f7a6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6f6b147324b21" /><Relationship Type="http://schemas.openxmlformats.org/officeDocument/2006/relationships/notesSlide" Target="/ppt/notesSlides/notesSlide4.xml" Id="R465bbad7926b4b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5a30c469940c4" /><Relationship Type="http://schemas.openxmlformats.org/officeDocument/2006/relationships/notesSlide" Target="/ppt/notesSlides/notesSlide5.xml" Id="Rbc90add8be9b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9c1fac247466f" /><Relationship Type="http://schemas.openxmlformats.org/officeDocument/2006/relationships/notesSlide" Target="/ppt/notesSlides/notesSlide6.xml" Id="R70d8837e570f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d8b6a5dd042b3" /><Relationship Type="http://schemas.openxmlformats.org/officeDocument/2006/relationships/notesSlide" Target="/ppt/notesSlides/notesSlide7.xml" Id="R37d66dd1075b43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174c8b78d4320" /><Relationship Type="http://schemas.openxmlformats.org/officeDocument/2006/relationships/image" Target="/ppt/media/image.bin" Id="R2a3624b4d90e4940" /><Relationship Type="http://schemas.openxmlformats.org/officeDocument/2006/relationships/notesSlide" Target="/ppt/notesSlides/notesSlide8.xml" Id="Re7f1997350134a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86ec9bf8f4a38" /><Relationship Type="http://schemas.openxmlformats.org/officeDocument/2006/relationships/notesSlide" Target="/ppt/notesSlides/notesSlide9.xml" Id="Ra5909c2da6ce48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1670d551b4f15" /><Relationship Type="http://schemas.openxmlformats.org/officeDocument/2006/relationships/notesSlide" Target="/ppt/notesSlides/notesSlide10.xml" Id="Rd410926303a140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B095D-DF5C-478A-8497-51A1CEC8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3A3AC7DE-9C1D-4E3E-9F7D-C5419635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7A4452A2-1978-4D93-BE8C-B6F3B3A7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FINAL PROJECT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08035-4025-4EAD-A624-09B9DB4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SMC + PPO 多股票動態資金配置系統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3EACF-B25C-4410-AC89-C81EB3FD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本專案把 Smart Money Concept 的市場結構訊號轉成可計算特徵，再用 PPO 學習在多檔台股之間分配資金。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08EB8-FCB3-4C1C-816E-E7F8EF9F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781AE-AA3F-49B2-AADB-4A382F1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F2839-3B73-4B14-BF37-BE960F0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50E95-5A5F-4C07-9319-F57AB77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SMC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5ACD0-108D-44D6-A59C-85B913A9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市場結構特徵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1C099-91DF-4A27-A886-448E579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PD / OB / FVG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ED94A-4A95-4BAA-8998-EBD6DAE7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25507-F252-45F0-898D-AE53BF6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D41CF-17C5-4DAA-B3E9-9E022B3A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6237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PPO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29544-77CB-409B-9295-2F46DAB9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243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強化學習決策器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E6892-89E0-41D5-8732-27F425CF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338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連續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E52D0-8B4D-40FE-9BEE-3BFF4F66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19500"/>
            <a:ext cx="219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0874E-1218-45CD-AE22-2434BAFA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675C6-31A5-42F0-80C7-F7FD42A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6237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16E23-EE11-4D52-A3C5-C2223B0B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243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0050 / 2330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F9A01-A4FC-4A9A-BC6F-1E991B0E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33875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兩檔配置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3462E-701A-4855-A195-10FBE089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0B6BB-086E-41D8-BB1D-CA1EF1FC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195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C130D-33D4-4A49-82F8-EDCE3D1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6237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57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2E8B57"/>
                </a:solidFill>
                <a:latin typeface="Cascadia Mono"/>
                <a:ea typeface="Cascadia Mono"/>
                <a:cs typeface="Cascadia Mono"/>
              </a:rPr>
              <a:t>Basket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43E8D-4A86-48C0-94B1-A98C312C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24325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0050 / 2330 / 2412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F1F7D-6E70-4B68-840F-2CEEAA02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三檔配置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329A7-FB20-4DD5-AC0D-C7FD2034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報告主軸：此專案不是單純預測明天漲跌，而是訓練一個能依市場狀態調整部位、控制成本與回撤的交易策略。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DA5E7-1840-4434-8E08-06E65E0D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138992-B37A-40F5-86D9-40FE4DA4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README.md, train_pipeline.py, twse_pipeline_common.py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FBBEA-3431-42AF-9F58-87DE981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26320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EAC78-707E-4DAE-9D69-B6610863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A38079D-E3A8-4FE3-BE4C-2704A40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C5748DE-F4D1-4BCF-AAE6-CD6AE8D8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B29A3-7C6D-4237-B492-66FADC9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專案目標：把主觀交易概念，整理成可訓練、可回測、可推論的流程。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62AD3-C220-4B60-B624-C07C5595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8C144-2C0B-4BA5-8264-AC7935AC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輸入資料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0A149-6980-4825-9499-F024C99B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FA61E-6410-461E-A3E3-B7C4133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台股日線 OHLCV：開盤、最高、最低、收盤、成交量。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D722C-DB49-41F4-A3F3-736065F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E9BA3-2BD6-4E4A-8C27-DE80EE68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由價格計算 SMC 特徵與 20 日價差 z-score。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7413A-D2CE-4CE5-8568-DED0CEC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85E86-E6FA-4B4F-8F57-869AD66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使用時間切分，避免用未來資料訓練模型。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5CCFF-7E3D-4986-A055-C43D812F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BF828-B7C4-4795-ABDE-028C9B4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09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模型任務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509DB-6003-4985-B3B5-30C743FC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643C3-7F29-4865-BA7F-3AFD87E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PPO 讀取目前市場狀態，輸出買進比例或資金權重。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C91DA-FC74-46F0-BDE7-BE0789B4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E2815-50C8-4F71-9CC0-CD979754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58140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Pair 模型在 0050 與 2330 之間做選擇。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99676-AD86-4ABF-9EFC-0DFCCBE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F3AEF-CDD5-401D-8CDD-3592EB5E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6245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Basket 模型在 0050、2330、2412 之間分散配置。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9C5EC-9BCD-44D2-BAD6-CDB2FCE6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EF893-7E08-404E-A274-6261B937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評估方式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48EA5-4883-401E-98B7-ACD8454C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12F25-796A-48BC-9894-8C45097C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推論期間不再訓練，只載入已訓練好的 PPO 權重。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35F50-9B92-4EE1-BE44-7F1D70C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26F23-BEF1-416F-910C-C0724F3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用累積報酬率、Sharpe Ratio、最大回撤評估策略品質。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190AB-1900-42C5-B714-957A25E5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61104-90E7-46CE-A800-DC02C65F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447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同時記錄交易成本、稅費與漲停導致的失敗委託。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BBFD2-391D-46C8-AE93-EF97FCB7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14EAAD-1BE1-411C-93C0-0386983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app.py, predict_pipeline.py, twse_pipeline_common.py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CFA0CC-D500-46FD-B3D5-5EABED2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6195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C4443-022E-4779-B20F-6F0F13E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93DF132-DD91-4B0E-BD3C-4AF926BB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784EF84-84DA-464F-BE5D-B7736037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RELATED WORK 1 / PPO + SMC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C901E-5C16-4EA3-8014-CA82A1A6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Related work 先看整體流程：SMC 負責描述市場，PPO 負責學習配置。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82F54-09C9-4260-AEDB-1FC932D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695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16F87-8F0C-4F53-B4D0-D3091FCD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3EED-B779-474D-B0A5-295E864A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市場資料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EE0E9-95E1-4621-96FC-490738C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台股 OHLCV</a:t>
            </a:r>
          </a:p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日線價格與成交量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0F752-74B2-41B0-ABD9-CB6F894A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DBE10-3167-41B7-87D3-73216D6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38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20B21-E448-4320-AA58-6FC373DB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95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AECBD-8643-4CDF-A373-A2F3625F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2B700-41C2-493D-B48D-4DACB4F9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574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SMC 訊號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58556-3AF9-439A-B925-8ACDDAA0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Premium / Discount</a:t>
            </a:r>
          </a:p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Order Block</a:t>
            </a:r>
          </a:p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Fair Value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5F7BB-52D9-4E4D-8DE8-871A6C42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861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2FB02-01DE-41FD-847B-05A54F39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38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9F2F7-AAF3-4A05-9A17-DAD3B54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1695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619A5-F4D6-4803-9B4D-0F06055C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270CC-17EB-4CFB-8B79-C3E938B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相對價值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53B7B-012C-475E-A6A9-FA3FAF89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289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/ Basket</a:t>
            </a:r>
          </a:p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Spread Z-Score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6549A-30F0-4BCA-980D-1DA786BC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861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C4983-66EE-4520-B3EB-8707DFA1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38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1A591-F5D0-4639-81F2-62B0356E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38375"/>
            <a:ext cx="1695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C96CE-E7DD-43AD-9F27-C44CF7D2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177246-EC32-43B1-84E0-220F42E9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交易環境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BD191-E04F-475A-A4CE-F4B3A5FE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資金、部位、交易成本</a:t>
            </a:r>
          </a:p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台股稅費與漲停限制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744FCF-C54C-4587-A175-A09CACB1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861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59ECD8-1FFB-4BC2-AE0F-FF6DC82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384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94378-92D9-4DA5-9C4E-785C04E4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8375"/>
            <a:ext cx="1695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11E04-6594-461F-BB75-3C580A89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9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920F2-6AC3-46A9-A46D-140DCB37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57450"/>
            <a:ext cx="1000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PPO 決策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8E2CA9-24F8-4B9E-9843-B6A669D5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輸出 action</a:t>
            </a:r>
          </a:p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轉換為目標權重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94319-D11D-41BD-B51B-96D2DB86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828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9525">
            <a:solidFill>
              <a:srgbClr val="123A5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C9A1FC-BAE5-469A-AE24-B5566D5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015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核心概念：SMC 提供「市場目前在哪裡」；PPO 學習「此時資金應該放在哪一檔、放多少」。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F303B7-7D87-4998-B664-DF0A49AC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1F313-1D59-4369-86F7-A577DE2F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docs/images/ppo-sarsa-decision-flow.svg, twse_pipeline_common.py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4E5A15-1E5A-4613-A456-FE5A7D09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49770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105EA-84E3-4B72-A244-9ECC14FC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FA0FA1E-8B82-429F-B741-DE6DF3A6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5D988DF-7D05-45EA-874A-73B8403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RELATED WORK 2 / PPO STATE-ACTION-REWARD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0CA45-F48C-4D15-AD4C-FF6F075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PPO 在本專案中可理解成 state、action、reward 的交易閉環。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D4ED6-053B-493A-8B70-652C9B0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AF6B4-FA66-4073-A099-3E7D28EA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State 狀態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D334D-9219-40E0-90FA-6600175B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DFD76-A198-4F8D-B8E2-2D16405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每檔股票的 PD_Pos、OB_Dist、FVG_Signal。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4C705-23DB-4833-BD1B-AEFC5AD6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0EBE6-B097-43F8-AAB6-FB8C9A96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Pair 或 Basket 的 spread z-score。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A1561-F4C6-42FC-A17C-AF72CFF8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7875F-7526-49B9-96A9-B773ED89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目前持股權重與現金比例。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38289-F4F1-49C8-A8D5-0D3BA17F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0863C-8A61-4001-A3BC-CB288453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Action 動作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2C558-C93A-440B-AC5D-564BB7B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51FA9-618D-4DF1-9641-26473CAC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384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Pair：action &gt; 0 偏向 0050；action &lt; 0 偏向 2330。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54DB3-3B60-4C62-BA53-3CECF847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67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E4CFF-D77A-4A8F-819D-95CE63CC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7909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Basket：將正 action 正規化成三檔股票配置比例。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4E68F-4D68-4A7F-BF00-BA600C2F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67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775C8-951F-4B9C-8998-FCF87FB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910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最大投入比例 max_position 預設 95%。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A280E-E7D4-475F-8C57-FE733F4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E29ED-2ACD-4201-A44B-8DB4909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Reward 獎勵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7C8A9-621C-48F7-9E90-B900A0AF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A9D81-CC29-4510-92C4-FFB91165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鼓勵淨值成長與較佳風險調整報酬。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21A5E-E098-4014-8F84-A99FF34A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9C606-19DC-45B4-91F0-6D0C9D7A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扣除交易成本、證交稅與手續費。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4B29B-BB7D-43D1-B8BB-C93FE53E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C8B9E-DD2A-4D86-B8D1-755679F1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2209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對新增最大回撤加重懲罰。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69BDB-0B42-4AEB-9524-A0CE850F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721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Reward = PnL * Sharpe_Adjustment - Transaction_Cost - 2.0 * Drawdown_Penalty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F400B-857B-485A-92A3-D66D5CC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9C226C-7655-4F37-8FA9-71BE219C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TWTradingEnv.step(), TWTradingEnv._target_weights()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FB9B8D-A6AF-4EE0-AA24-4826722B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8856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FFEA8B-19ED-4C59-A785-256868F3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4EF051C-0A73-4012-BBB7-2F7A254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BBECD163-3C13-4D86-9B7E-A37C09D1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PROPOSED SCHEME / DETAIL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F989C-9C3C-4F0E-B97F-3326FBE3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程式中的特殊設計：避免資料洩漏，並模擬台股交易限制。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B8500-C72D-48ED-9697-04ECC4B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14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D1C87-04DA-44A3-972F-EBDC73A9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避免同棒資料洩漏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DACB5-40D2-450F-BA63-17C9427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feature_cols shift(1)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160E-3CE1-4EF1-8CB2-76AAAC2B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模型在 t 日做決策時，只能使用 t-1 前已知的 SMC 與 z-score 特徵。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56487-2BAC-4E53-8902-E7B9F60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314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72342-6D08-4919-8E1C-A0875A0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台股交易成本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50B4-E2AE-45ED-BA29-131C166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brokerage + sell tax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FEE1F-90A6-4E59-84F9-7E1C721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93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買賣手續費 0.1425% * 0.6；0050 賣出稅 0.1%，股票賣出稅 0.3%。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6396D-0939-4DCA-B491-9C896B8F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314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900AF-1AA0-4F1F-9BC0-264C2D83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62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漲停限制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DBEF1-2A3A-46FB-ACC8-8331EDD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81375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price &gt;= prev_close * 1.10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8DC43-39E0-4789-B247-E7DB75D0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若價格達漲停，該筆再平衡委託會被跳過，並記錄 failed_orders。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A0376-DB48-47D8-94AC-AB280A8D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5314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F2FF2-F96C-4CE2-89B7-1E09E1CD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部位轉換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D1678-F3C6-4AA2-835E-4234BD6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action -&gt; target weights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8CE1C-10D4-4A0A-91B5-5E7C36A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5225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PPO 不直接買賣股數，而是先決定目標資金權重，再由環境執行再平衡。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DD9FF-8A45-4F13-B38E-E6957C04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314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29491-A3CF-4CDC-8B0A-D2B9835B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風險導向 reward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213EE-890C-481F-9F53-F6617102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6725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PnL / cost / drawdown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B4F8E-ABFF-4174-BE4E-322BEDB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不只追求賺錢，也把交易成本與回撤納入訓練目標。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E0150-93F6-46EA-9F2C-FC63D50D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314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C8C7A-B107-4A43-887B-17E43BF4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推論與展示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40989-5478-4886-A5DF-72AB48F5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zip / ONNX / Streamlit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E84D10-8A13-41CD-AB91-618ECB7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911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保留模型檔與 dashboard，能呈現訊號、淨值、回撤、部位變化。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36AE7-3AFB-411A-84EB-D2B35EE6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9A79F-6A5B-4100-9D47-D2F168C7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twse_pipeline_common.py, app.py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DC5B5-CAE8-4B8D-9625-CD2A777F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28598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52865-41A4-4B04-B527-BD2D204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3EACD33-C662-4A4D-B97F-5389C98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FA2FD7AD-D6C1-435A-BC8A-D8D0B86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PROPOSED SCHEME / MODEL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34785-D6FC-45DB-8E2F-CBE9CB5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本專案訓練兩種市場範圍：Pair 模型追求相對強弱，Basket 模型追求分散配置。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F46AE-E2B8-40FF-9673-8FF5A63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7B354-C7C4-4746-814D-864F3EA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B61B9-6183-4D95-BD3C-D61C293E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637CE-B852-4FD5-AB03-36A89D2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0050.TW + 2330.TW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A7BE8-BFB0-433C-9040-647DE14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台灣 50 ETF vs 台積電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C8ED5-08E7-45B1-8D90-7A1542F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E5B5F-1E1D-47CE-8D34-B68EBB67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82CC9-43C1-4DC5-B8E7-6B27107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47875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Basket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77F8C-1634-4A06-B2E1-7E3863F4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9825"/>
            <a:ext cx="316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0050.TW + 2330.TW + 2412.TW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3C2A8-200F-43C3-AEA6-DA832C92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19375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加入中華電信增加防禦性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A4CD0-AF25-4516-98C9-9C68095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05000"/>
            <a:ext cx="257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A9AE9-7461-4AE8-9E22-3174A101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050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F2A82-8528-40D1-AE59-82DBDDC9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4787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PPO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3CCAE-D8E7-42A9-A299-9CF339D5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9825"/>
            <a:ext cx="230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MlpPolicy / [128,128]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AAC19-3B5A-4128-81AA-3799855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93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policy / value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85ED1-28C6-43EB-94B3-5B3C9ED3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BBF1B-5461-49CD-B566-2C21C0C6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Pair 模型資料背景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53825-1569-42F6-A0DE-B222103C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使用 0050.TW 與 2330.TW。0050 代表台灣大型權值股 ETF，2330 代表半導體龍頭；模型學習兩者相對價差與 SMC 訊號下的資金切換。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82842-4DEE-40DA-B4FC-0ABE6B94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99CEA-EED4-4EA6-BE49-8FE5BC8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195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Basket 模型資料背景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9E255-ECED-4DC3-B520-232573C4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使用 0050.TW、2330.TW、2412.TW。除了 ETF 與半導體，也加入電信防禦股，讓 PPO 可以在成長型與穩定型標的間分配資金。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D20434-6F5C-4F85-96A4-63E5F39B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29C3D-50C2-4BCF-B229-09E206C3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PAIR_CONFIG, BASKET_CONFIG, train_pipeline.py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7106D-EC85-42DF-82BA-D6962326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78240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7E365-D1E6-4977-9DE3-B211542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539982B-5327-401B-BC28-548BF1B4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41ABE2AD-FDB7-42B8-BE6B-4E9550F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SIMULATION / DATA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8CC32-4C81-4E2D-823D-4838726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訓練與驗證採連續時間切分，避免把未來行情放進訓練。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11091-59E7-42BC-8E9B-C96AE28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D1D9-DCF3-4DC6-B256-328F7953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6C597-E11A-460D-A65C-9A68C27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4E32A-EAC9-4953-A7DF-071B1EB1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訓練資料：2018-01-01 ~ 2024-12-31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38EE7-0559-4779-93AB-D82063C0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驗證 / 推論資料：2025-01-01 ~ 2026-05-01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F53F1-5125-4D94-9B45-0EDB6C4C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註：程式中的 TRAIN_END 為 2024-12-31；這裡依程式實際設定呈現。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DC180-220E-48AC-BDFF-35FCCB4C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F9159-FF43-470F-8FD5-23DCB95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訓練階段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8AE4D-971B-4241-93ED-A9D7E645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PPO 在歷史資料中反覆與交易環境互動，學習 state -&gt; action -&gt; reward 的策略參數。每個模型訓練 500,000 timesteps。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D0BC4-530E-4C71-AC29-C41BCB68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57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F9D73-E22A-4C81-A1E8-F9729AD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481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驗證階段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3B1ED-6A11-4DDF-9F0B-C3360C8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驗證時只載入已訓練權重，使用 deterministic=True 產生固定策略，不再呼叫 model.learn()。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285C2-FA59-4560-BC17-8335DCE6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98135-3541-4E72-94E7-E62CA9CC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train_pipeline.py, predict_pipeline.py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35808-23DC-4DFA-8464-E18D15B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701438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DED82-E729-4604-A88D-D8327CD2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3109BAD3-4815-48C7-9C75-86F72812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5A0EB01-A62E-46CF-90A0-C8E4760C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SIMULATION / RETURN CURVE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DF1B0-EC3B-457F-AF90-E05613C6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推論結果：Pair 報酬較高，Basket 淨值走勢較平穩。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F7F48-1049-4F8C-AEFA-B1B90C3E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52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624b4d90e4940"/>
          <a:stretch xmlns:a="http://schemas.openxmlformats.org/drawingml/2006/main"/>
        </p:blipFill>
        <p:spPr>
          <a:xfrm xmlns:a="http://schemas.openxmlformats.org/drawingml/2006/main">
            <a:off x="876300" y="1952625"/>
            <a:ext cx="7143750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9728E-31B2-4E73-B65B-B43314A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9813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D4D73-4AB5-41C9-89BF-A95C37C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76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台股常用解讀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4FA20-8601-464D-B52F-33703218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86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累積報酬率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E4352-9D57-475D-B99D-A4C5DC13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+84.92%；Basket +42.02%。代表期末淨值相對初始本金的增加幅度。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A05A5-F086-44F3-871C-8FC7E9E1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19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風險調整後報酬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9779A-503F-41D3-804E-B27E3D63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862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Sharpe Ratio：Pair 1.84、Basket 1.41；數值越高，代表承擔波動後的報酬效率越好。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991D9-8A6C-43AB-A26A-CF0BE482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86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C44536"/>
                </a:solidFill>
                <a:latin typeface="Microsoft JhengHei"/>
                <a:ea typeface="Microsoft JhengHei"/>
                <a:cs typeface="Microsoft JhengHei"/>
              </a:rPr>
              <a:t>最大回撤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61B35-AA27-4251-8A76-8D5A1C10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Pair -26.72%；Basket -10.45%。Basket 報酬較低，但下跌風險明顯較小。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99456-3F25-4D8E-9055-601345FF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20EE3-443B-4C59-942D-8ADA22B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predict_pipeline.py run on 2026-06-07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EBA15-0F80-47A7-BA62-802B2F64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96274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B8330-3DF9-461F-945B-E6B80523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2B713314-BAA7-40CA-87B8-7137932E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8B850140-D342-4C90-8604-21BB34D5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SIMULATION / RESULT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BBAF3-BD8C-464A-8900-78F16C21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績效報告重點：高報酬與低回撤無法同時最大化，需看策略目的。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4DD6-04A8-4D1D-BB7D-D5740EB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74293-FAB0-44BA-AA15-A77874E7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Out-of-sample 績效比較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43FFC-9ABB-4B6B-9743-7645D3A2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累積報酬率 /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BB398-96DE-4EFC-98CE-5BB614DA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70204-D2E7-4847-9C0E-0AD9D9B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05F3E-44A8-484A-950A-DE89B66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84.92%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EB553-7831-4525-A223-D450AE3F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累積報酬率 / Basket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A9040-7980-4FCA-9D71-767AF444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051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F90C9-E851-4655-B7FC-32516AF5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05175"/>
            <a:ext cx="16973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A8F83-6858-4334-A553-F32A844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42.02%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68EB0-3B57-4BC9-A8E0-CE24E02A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Sharpe Ratio / 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82F95-6E87-4027-B520-52DB8B97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766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A48AD-0C65-4D68-A9A4-4163ADFD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7667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50701-8E14-4AC3-90D4-1D4C79E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1.84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41B8A-E985-4422-8DFA-506454C0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Sharpe Ratio / Basket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18E8F-4C53-43A9-BF6A-B505817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529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E4C85-5BAE-4F5E-B57B-3603E655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52925"/>
            <a:ext cx="262661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95AAB-1779-4E8E-89B6-91FADED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862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1">
                <a:solidFill>
                  <a:srgbClr val="356B85"/>
                </a:solidFill>
                <a:latin typeface="Cascadia Mono"/>
                <a:ea typeface="Cascadia Mono"/>
                <a:cs typeface="Cascadia Mono"/>
              </a:rPr>
              <a:t>1.41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B0B8D-C69F-4242-A98F-571FAD31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C306E-10C9-405F-B409-15D24437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725F"/>
                </a:solidFill>
                <a:latin typeface="Microsoft JhengHei"/>
                <a:ea typeface="Microsoft JhengHei"/>
                <a:cs typeface="Microsoft JhengHei"/>
              </a:rPr>
              <a:t>Pair 適合的敘述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4DABC-22AC-4F62-B8B3-84656C3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報酬率最高，但最大回撤較深，代表承受波動較大。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181A3-6B65-4B27-B8B3-05719D26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E4476-AC4E-40D5-B3B7-D6A0909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81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Basket 適合的敘述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B17BA-E4C5-4519-8C6E-43EFE6B3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報酬率較低，但最大回撤較小，資金曲線較穩。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4DB36-2E36-43CD-8672-B88265E6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9525">
            <a:solidFill>
              <a:srgbClr val="123A5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33FB95-47A3-4347-8991-4C1D407B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期末淨值：Pair NTD 1.849M；Basket NTD 1.420M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122475-1F94-49C9-90C1-346AC0A6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86AD61-D199-470E-9073-1D8064F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predict_pipeline.py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F1B8D-7FAB-406E-A145-96A25D2D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01644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A9A2C4-0B6E-4D9B-8AEE-8DACC21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A341073-6541-4E82-B380-67355CA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2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22963849-B02D-405C-A721-CCB01F3D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56B85"/>
                </a:solidFill>
                <a:latin typeface="Microsoft JhengHei"/>
                <a:ea typeface="Microsoft JhengHei"/>
                <a:cs typeface="Microsoft JhengHei"/>
              </a:rPr>
              <a:t>CONCLUSION / FUTURE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FB4B-C1DF-4726-B264-7E5C5DA1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09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71018"/>
                </a:solidFill>
                <a:latin typeface="Microsoft JhengHei"/>
                <a:ea typeface="Microsoft JhengHei"/>
                <a:cs typeface="Microsoft JhengHei"/>
              </a:rPr>
              <a:t>結論：目前系統已能完成訓練、推論與績效展示；後續要補強比較基準與穩健性。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E88C2-5EF8-4E25-A915-98832F1D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06A47-937A-4C01-B229-6828F3E6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9418A-25E5-4FD5-A512-529808DE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加入比較基準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9A27C-C7D7-49A7-8EF0-BFD55A6E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例如買進持有、等權重投資、固定 SMC 規則、SARSA / DQN 等模型。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FCD71-2B2B-4257-B898-4A155607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71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79671-2424-419C-BF43-B0D4442A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24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1A771-AA98-444B-AB78-49C3612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C562D-FA44-439B-BA0C-7DD54A8B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F3178-21B2-4AEA-AF83-6B1B5B12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做穩健性驗證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60D08-FE72-4C26-B871-FA36DAC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4330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用不同時間窗、不同交易成本、不同市場盤勢測試策略是否仍有效。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EF897-C7CA-462F-A7AA-A6B1FD1C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71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92134-E917-4571-854B-EE66098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24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AE8A3-9ADD-4C6F-9ED2-CE19DB0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81397-BCBC-4901-BE31-1F70DF51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4237F-373D-471E-8CDA-704ECEFD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提升可解釋性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9A2A7-7704-4CDA-8773-2B6C67F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分析 PPO action 與 PD_Pos、OB_Dist、FVG、z-score 的關係。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6AA1A-BCE7-4D6A-81FF-4525DD05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5E1DE-EECA-4EEE-831B-0E2B9FF9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242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529A9-C020-48AE-AE07-927C48B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33625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3"/>
          </a:solidFill>
          <a:ln xmlns:a="http://schemas.openxmlformats.org/drawingml/2006/main" w="9525">
            <a:solidFill>
              <a:srgbClr val="C4D1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F194F-FDFA-49FF-9A6B-0F48991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52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FF725F"/>
                </a:solidFill>
                <a:latin typeface="Cascadia Mono"/>
                <a:ea typeface="Cascadia Mono"/>
                <a:cs typeface="Cascadia Mon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BC0B0-909E-41F6-9808-E67704E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23A56"/>
                </a:solidFill>
                <a:latin typeface="Microsoft JhengHei"/>
                <a:ea typeface="Microsoft JhengHei"/>
                <a:cs typeface="Microsoft JhengHei"/>
              </a:rPr>
              <a:t>強化實務展示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87028-B426-4F29-AC6D-B930F4A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43300"/>
            <a:ext cx="157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把 ONNX 推論、Streamlit dashboard、風控警示整合成完整展示流程。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CFA58-2203-4EA1-AB9E-85DE5DA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6"/>
          </a:solidFill>
          <a:ln xmlns:a="http://schemas.openxmlformats.org/drawingml/2006/main" w="9525">
            <a:solidFill>
              <a:srgbClr val="123A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FD0BE-3B12-4135-B11B-F0AC4878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86375"/>
            <a:ext cx="847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總結一句話：本專案已證明 SMC 特徵可以被放進 PPO 交易環境；接下來要證明策略在更多市場條件下仍然穩定。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E9B00-3F3C-406F-963D-83291D6B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FA818-DD59-446E-9EC7-B9346091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4B5C68"/>
                </a:solidFill>
                <a:latin typeface="Microsoft JhengHei"/>
                <a:ea typeface="Microsoft JhengHei"/>
                <a:cs typeface="Microsoft JhengHei"/>
              </a:rPr>
              <a:t>Source: project code review and inference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480CC-269C-41B1-952E-E6DEC6B8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1">
                <a:solidFill>
                  <a:srgbClr val="123A56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5159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2026-06-07T05:41:00.8120000Z</dcterms:created>
  <dcterms:modified xsi:type="dcterms:W3CDTF">2026-06-07T05:41:00.8120000Z</dcterms:modified>
</coreProperties>
</file>